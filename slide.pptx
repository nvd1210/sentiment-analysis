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15"/>
  </p:notesMasterIdLst>
  <p:sldIdLst>
    <p:sldId id="256" r:id="rId2"/>
    <p:sldId id="259" r:id="rId3"/>
    <p:sldId id="261" r:id="rId4"/>
    <p:sldId id="303" r:id="rId5"/>
    <p:sldId id="302" r:id="rId6"/>
    <p:sldId id="263" r:id="rId7"/>
    <p:sldId id="305" r:id="rId8"/>
    <p:sldId id="264" r:id="rId9"/>
    <p:sldId id="268" r:id="rId10"/>
    <p:sldId id="306" r:id="rId11"/>
    <p:sldId id="307" r:id="rId12"/>
    <p:sldId id="297" r:id="rId13"/>
    <p:sldId id="299" r:id="rId14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Work Sans" pitchFamily="2" charset="0"/>
      <p:regular r:id="rId20"/>
      <p:bold r:id="rId21"/>
      <p:italic r:id="rId22"/>
      <p:boldItalic r:id="rId23"/>
    </p:embeddedFont>
    <p:embeddedFont>
      <p:font typeface="Work Sans Light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C48F5E8-BA7D-46A7-AC5F-F8C60C47DC30}">
  <a:tblStyle styleId="{4C48F5E8-BA7D-46A7-AC5F-F8C60C47DC3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5893299-D38C-447E-A1AF-38EC94A1764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98610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9349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37641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5f391192_0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5f391192_0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5f391192_0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5f391192_0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03839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5f391192_0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5f391192_0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91691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5f391192_0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5f391192_0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0575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98600" y="198600"/>
            <a:ext cx="8746800" cy="4760700"/>
          </a:xfrm>
          <a:prstGeom prst="frame">
            <a:avLst>
              <a:gd name="adj1" fmla="val 4126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048725" y="3058625"/>
            <a:ext cx="49140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198600" y="198600"/>
            <a:ext cx="8746800" cy="4760700"/>
          </a:xfrm>
          <a:prstGeom prst="frame">
            <a:avLst>
              <a:gd name="adj1" fmla="val 4126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ctrTitle"/>
          </p:nvPr>
        </p:nvSpPr>
        <p:spPr>
          <a:xfrm>
            <a:off x="1012800" y="2497750"/>
            <a:ext cx="49500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1012800" y="3678252"/>
            <a:ext cx="49500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198600" y="198600"/>
            <a:ext cx="8746800" cy="4760700"/>
          </a:xfrm>
          <a:prstGeom prst="frame">
            <a:avLst>
              <a:gd name="adj1" fmla="val 4126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869150" y="847600"/>
            <a:ext cx="5092200" cy="13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869150" y="2312925"/>
            <a:ext cx="7405800" cy="20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▪"/>
              <a:defRPr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□"/>
              <a:defRPr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□"/>
              <a:defRPr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□"/>
              <a:defRPr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198600" y="198600"/>
            <a:ext cx="8746800" cy="4760700"/>
          </a:xfrm>
          <a:prstGeom prst="frame">
            <a:avLst>
              <a:gd name="adj1" fmla="val 4126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869150" y="847600"/>
            <a:ext cx="5092200" cy="13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869150" y="2312925"/>
            <a:ext cx="3594600" cy="21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□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□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□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2"/>
          </p:nvPr>
        </p:nvSpPr>
        <p:spPr>
          <a:xfrm>
            <a:off x="4680228" y="2312925"/>
            <a:ext cx="3594600" cy="21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□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□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□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/>
          <p:nvPr/>
        </p:nvSpPr>
        <p:spPr>
          <a:xfrm>
            <a:off x="198600" y="198600"/>
            <a:ext cx="8746800" cy="4760700"/>
          </a:xfrm>
          <a:prstGeom prst="frame">
            <a:avLst>
              <a:gd name="adj1" fmla="val 4126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869150" y="847600"/>
            <a:ext cx="5092200" cy="13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869150" y="2312925"/>
            <a:ext cx="2366400" cy="20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2"/>
          </p:nvPr>
        </p:nvSpPr>
        <p:spPr>
          <a:xfrm>
            <a:off x="3356739" y="2312925"/>
            <a:ext cx="2366400" cy="20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3"/>
          </p:nvPr>
        </p:nvSpPr>
        <p:spPr>
          <a:xfrm>
            <a:off x="5844329" y="2312925"/>
            <a:ext cx="2366400" cy="20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/>
          <p:nvPr/>
        </p:nvSpPr>
        <p:spPr>
          <a:xfrm>
            <a:off x="198600" y="198600"/>
            <a:ext cx="8746800" cy="4760700"/>
          </a:xfrm>
          <a:prstGeom prst="frame">
            <a:avLst>
              <a:gd name="adj1" fmla="val 4126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869150" y="847600"/>
            <a:ext cx="5092200" cy="13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69150" y="847600"/>
            <a:ext cx="5092200" cy="13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69150" y="2312925"/>
            <a:ext cx="7405800" cy="20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Light"/>
              <a:buChar char="▪"/>
              <a:defRPr sz="20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Light"/>
              <a:buChar char="□"/>
              <a:defRPr sz="20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Light"/>
              <a:buChar char="□"/>
              <a:defRPr sz="20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Light"/>
              <a:buChar char="□"/>
              <a:defRPr sz="20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Light"/>
              <a:buChar char="○"/>
              <a:defRPr sz="20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Light"/>
              <a:buChar char="■"/>
              <a:defRPr sz="20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Light"/>
              <a:buChar char="●"/>
              <a:defRPr sz="20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Light"/>
              <a:buChar char="○"/>
              <a:defRPr sz="20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Light"/>
              <a:buChar char="■"/>
              <a:defRPr sz="20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 algn="r">
              <a:buNone/>
              <a:defRPr sz="13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lvl="2" algn="r">
              <a:buNone/>
              <a:defRPr sz="13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lvl="3" algn="r">
              <a:buNone/>
              <a:defRPr sz="13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lvl="4" algn="r">
              <a:buNone/>
              <a:defRPr sz="13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lvl="5" algn="r">
              <a:buNone/>
              <a:defRPr sz="13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lvl="6" algn="r">
              <a:buNone/>
              <a:defRPr sz="13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lvl="7" algn="r">
              <a:buNone/>
              <a:defRPr sz="13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lvl="8" algn="r">
              <a:buNone/>
              <a:defRPr sz="13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ctrTitle"/>
          </p:nvPr>
        </p:nvSpPr>
        <p:spPr>
          <a:xfrm>
            <a:off x="2180838" y="696686"/>
            <a:ext cx="4836819" cy="46311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/>
              <a:t>SENTIMENT ANALYSIS FOR E-COMMERCE BASED ON SENTIMENT LEXICON AND DEEP LEARNING</a:t>
            </a:r>
            <a:endParaRPr sz="1500" dirty="0"/>
          </a:p>
        </p:txBody>
      </p:sp>
      <p:sp>
        <p:nvSpPr>
          <p:cNvPr id="11" name="Google Shape;58;p12">
            <a:extLst>
              <a:ext uri="{FF2B5EF4-FFF2-40B4-BE49-F238E27FC236}">
                <a16:creationId xmlns:a16="http://schemas.microsoft.com/office/drawing/2014/main" id="{EC26A2E6-0E27-4FD8-ABCC-3844AD67589B}"/>
              </a:ext>
            </a:extLst>
          </p:cNvPr>
          <p:cNvSpPr txBox="1">
            <a:spLocks/>
          </p:cNvSpPr>
          <p:nvPr/>
        </p:nvSpPr>
        <p:spPr>
          <a:xfrm>
            <a:off x="801981" y="1159800"/>
            <a:ext cx="6687390" cy="35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Work Sans"/>
              <a:buNone/>
              <a:defRPr sz="48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Work Sans"/>
              <a:buNone/>
              <a:defRPr sz="48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Work Sans"/>
              <a:buNone/>
              <a:defRPr sz="48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Work Sans"/>
              <a:buNone/>
              <a:defRPr sz="48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Work Sans"/>
              <a:buNone/>
              <a:defRPr sz="48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Work Sans"/>
              <a:buNone/>
              <a:defRPr sz="48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Work Sans"/>
              <a:buNone/>
              <a:defRPr sz="48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Work Sans"/>
              <a:buNone/>
              <a:defRPr sz="48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Work Sans"/>
              <a:buNone/>
              <a:defRPr sz="48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r>
              <a:rPr lang="en-US" sz="1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</a:p>
          <a:p>
            <a:pPr marL="342900" lvl="0" indent="-342900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en-US" sz="1600" b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 Yang (Member)</a:t>
            </a:r>
            <a:endParaRPr lang="en-US" sz="1600" b="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en-US" sz="1600" b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Ying Li</a:t>
            </a:r>
            <a:endParaRPr lang="en-US" sz="1600" b="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en-US" sz="1600" b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Jin</a:t>
            </a:r>
            <a:r>
              <a:rPr lang="en-US" sz="1600" b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Wang (Senior Member)</a:t>
            </a:r>
            <a:endParaRPr lang="en-US" sz="1600" b="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Calibri" panose="020F0502020204030204" pitchFamily="34" charset="0"/>
              <a:buChar char="-"/>
            </a:pPr>
            <a:r>
              <a:rPr lang="en-US" sz="1600" b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R. Simon </a:t>
            </a:r>
            <a:r>
              <a:rPr lang="en-US" sz="1600" b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Sherratt</a:t>
            </a:r>
            <a:r>
              <a:rPr lang="en-US" sz="1600" b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(fellow)</a:t>
            </a:r>
            <a:endParaRPr lang="en-US" sz="1600" b="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Nhóm trình </a:t>
            </a:r>
            <a:r>
              <a:rPr lang="en-US" sz="15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bày</a:t>
            </a:r>
            <a:r>
              <a:rPr lang="en-US" sz="1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1600" b="0" i="0" dirty="0">
                <a:solidFill>
                  <a:srgbClr val="1C1E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18120167 – Nguyễn Viết Dũng</a:t>
            </a:r>
          </a:p>
          <a:p>
            <a:r>
              <a:rPr lang="vi-VN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18120544 - Trương Minh </a:t>
            </a:r>
            <a:r>
              <a:rPr lang="vi-VN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endParaRPr lang="en-US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18120579 - </a:t>
            </a:r>
            <a:r>
              <a:rPr lang="en-US" sz="16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Đặng</a:t>
            </a:r>
            <a:r>
              <a:rPr lang="en-US" sz="16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Minh </a:t>
            </a:r>
            <a:r>
              <a:rPr lang="en-US" sz="16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Thọ</a:t>
            </a:r>
            <a:br>
              <a:rPr lang="vi-VN" sz="1600" b="0" i="0" dirty="0">
                <a:solidFill>
                  <a:srgbClr val="1C1E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18120584 - </a:t>
            </a: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Đình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Thục</a:t>
            </a:r>
            <a:endParaRPr lang="en-US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sz="1800" b="0" i="0" dirty="0">
                <a:solidFill>
                  <a:srgbClr val="1C1E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>
            <a:spLocks noGrp="1"/>
          </p:cNvSpPr>
          <p:nvPr>
            <p:ph type="ctrTitle"/>
          </p:nvPr>
        </p:nvSpPr>
        <p:spPr>
          <a:xfrm>
            <a:off x="908356" y="1411989"/>
            <a:ext cx="2049590" cy="52284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2855685" y="468177"/>
            <a:ext cx="3432629" cy="983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000" b="1" dirty="0">
                <a:solidFill>
                  <a:srgbClr val="FF0000"/>
                </a:solidFill>
                <a:latin typeface="Times New Roman" panose="02020603050405020304" pitchFamily="18" charset="0"/>
                <a:ea typeface="Work Sans"/>
                <a:cs typeface="Times New Roman" panose="02020603050405020304" pitchFamily="18" charset="0"/>
                <a:sym typeface="Work Sans"/>
              </a:rPr>
              <a:t>NỘI DUNG</a:t>
            </a:r>
            <a:endParaRPr sz="5000" b="1" dirty="0">
              <a:solidFill>
                <a:srgbClr val="FF0000"/>
              </a:solidFill>
              <a:latin typeface="Times New Roman" panose="02020603050405020304" pitchFamily="18" charset="0"/>
              <a:ea typeface="Work Sans"/>
              <a:cs typeface="Times New Roman" panose="02020603050405020304" pitchFamily="18" charset="0"/>
              <a:sym typeface="Work Sans"/>
            </a:endParaRPr>
          </a:p>
        </p:txBody>
      </p:sp>
      <p:sp>
        <p:nvSpPr>
          <p:cNvPr id="6" name="Google Shape;91;p15">
            <a:extLst>
              <a:ext uri="{FF2B5EF4-FFF2-40B4-BE49-F238E27FC236}">
                <a16:creationId xmlns:a16="http://schemas.microsoft.com/office/drawing/2014/main" id="{A453794E-94BF-4F18-BDCE-CB130E41F6F2}"/>
              </a:ext>
            </a:extLst>
          </p:cNvPr>
          <p:cNvSpPr txBox="1">
            <a:spLocks/>
          </p:cNvSpPr>
          <p:nvPr/>
        </p:nvSpPr>
        <p:spPr>
          <a:xfrm>
            <a:off x="908354" y="1848350"/>
            <a:ext cx="5028317" cy="522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Work Sans"/>
              <a:buNone/>
              <a:defRPr sz="48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Work Sans"/>
              <a:buNone/>
              <a:defRPr sz="48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Work Sans"/>
              <a:buNone/>
              <a:defRPr sz="48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Work Sans"/>
              <a:buNone/>
              <a:defRPr sz="48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Work Sans"/>
              <a:buNone/>
              <a:defRPr sz="48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Work Sans"/>
              <a:buNone/>
              <a:defRPr sz="48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Work Sans"/>
              <a:buNone/>
              <a:defRPr sz="48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Work Sans"/>
              <a:buNone/>
              <a:defRPr sz="48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trình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91;p15">
            <a:extLst>
              <a:ext uri="{FF2B5EF4-FFF2-40B4-BE49-F238E27FC236}">
                <a16:creationId xmlns:a16="http://schemas.microsoft.com/office/drawing/2014/main" id="{2237713C-29B4-4C8D-9BC1-577278656CB0}"/>
              </a:ext>
            </a:extLst>
          </p:cNvPr>
          <p:cNvSpPr txBox="1">
            <a:spLocks/>
          </p:cNvSpPr>
          <p:nvPr/>
        </p:nvSpPr>
        <p:spPr>
          <a:xfrm>
            <a:off x="908354" y="2395241"/>
            <a:ext cx="4141630" cy="522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Work Sans"/>
              <a:buNone/>
              <a:defRPr sz="48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Work Sans"/>
              <a:buNone/>
              <a:defRPr sz="48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Work Sans"/>
              <a:buNone/>
              <a:defRPr sz="48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Work Sans"/>
              <a:buNone/>
              <a:defRPr sz="48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Work Sans"/>
              <a:buNone/>
              <a:defRPr sz="48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Work Sans"/>
              <a:buNone/>
              <a:defRPr sz="48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Work Sans"/>
              <a:buNone/>
              <a:defRPr sz="48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Work Sans"/>
              <a:buNone/>
              <a:defRPr sz="48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Phương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Google Shape;91;p15">
            <a:extLst>
              <a:ext uri="{FF2B5EF4-FFF2-40B4-BE49-F238E27FC236}">
                <a16:creationId xmlns:a16="http://schemas.microsoft.com/office/drawing/2014/main" id="{68998564-5B67-4FC8-949F-DBD39EBD7437}"/>
              </a:ext>
            </a:extLst>
          </p:cNvPr>
          <p:cNvSpPr txBox="1">
            <a:spLocks/>
          </p:cNvSpPr>
          <p:nvPr/>
        </p:nvSpPr>
        <p:spPr>
          <a:xfrm>
            <a:off x="908356" y="2873181"/>
            <a:ext cx="3185662" cy="522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Work Sans"/>
              <a:buNone/>
              <a:defRPr sz="48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Work Sans"/>
              <a:buNone/>
              <a:defRPr sz="48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Work Sans"/>
              <a:buNone/>
              <a:defRPr sz="48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Work Sans"/>
              <a:buNone/>
              <a:defRPr sz="48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Work Sans"/>
              <a:buNone/>
              <a:defRPr sz="48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Work Sans"/>
              <a:buNone/>
              <a:defRPr sz="48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Work Sans"/>
              <a:buNone/>
              <a:defRPr sz="48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Work Sans"/>
              <a:buNone/>
              <a:defRPr sz="48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>
            <a:spLocks noGrp="1"/>
          </p:cNvSpPr>
          <p:nvPr>
            <p:ph type="title"/>
          </p:nvPr>
        </p:nvSpPr>
        <p:spPr>
          <a:xfrm>
            <a:off x="869150" y="525518"/>
            <a:ext cx="5092200" cy="73401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1. GIỚI THIỆU</a:t>
            </a:r>
            <a:endParaRPr dirty="0"/>
          </a:p>
        </p:txBody>
      </p:sp>
      <p:sp>
        <p:nvSpPr>
          <p:cNvPr id="110" name="Google Shape;110;p17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B2A33B6-9252-0FF7-537D-057D0FF04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150" y="1291938"/>
            <a:ext cx="2207451" cy="1471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WDC 2020: AirPods to get auto-switching and spatial audio features -  KLGadgetGuy">
            <a:extLst>
              <a:ext uri="{FF2B5EF4-FFF2-40B4-BE49-F238E27FC236}">
                <a16:creationId xmlns:a16="http://schemas.microsoft.com/office/drawing/2014/main" id="{30488EAD-A037-12B9-A4ED-5CBDD3F509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1316" y="2802238"/>
            <a:ext cx="3470034" cy="1815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Erasing Complexity: The Comfort of Apple's Ecosystem - MacStories">
            <a:extLst>
              <a:ext uri="{FF2B5EF4-FFF2-40B4-BE49-F238E27FC236}">
                <a16:creationId xmlns:a16="http://schemas.microsoft.com/office/drawing/2014/main" id="{7A86425A-1560-80C3-68BA-F02BB52EA6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765" y="1259534"/>
            <a:ext cx="3686175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>
            <a:spLocks noGrp="1"/>
          </p:cNvSpPr>
          <p:nvPr>
            <p:ph type="title"/>
          </p:nvPr>
        </p:nvSpPr>
        <p:spPr>
          <a:xfrm>
            <a:off x="869150" y="525518"/>
            <a:ext cx="5092200" cy="73401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1. GIỚI THIỆU</a:t>
            </a:r>
            <a:endParaRPr dirty="0"/>
          </a:p>
        </p:txBody>
      </p:sp>
      <p:sp>
        <p:nvSpPr>
          <p:cNvPr id="110" name="Google Shape;110;p17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650DBB-8621-FDB3-F885-ABD662BF0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135" y="1473784"/>
            <a:ext cx="4038600" cy="1047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69DDC4-9F5A-3284-8FF2-C82285061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135" y="2735784"/>
            <a:ext cx="3638550" cy="800100"/>
          </a:xfrm>
          <a:prstGeom prst="rect">
            <a:avLst/>
          </a:prstGeom>
        </p:spPr>
      </p:pic>
      <p:pic>
        <p:nvPicPr>
          <p:cNvPr id="1026" name="Picture 2" descr="Our readers get real about their issues with the AirPods Pro | Engadget">
            <a:extLst>
              <a:ext uri="{FF2B5EF4-FFF2-40B4-BE49-F238E27FC236}">
                <a16:creationId xmlns:a16="http://schemas.microsoft.com/office/drawing/2014/main" id="{9AAED814-0FC3-4AFD-1553-BD7E0BAB8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4723" y="1302253"/>
            <a:ext cx="3959142" cy="2639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5067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>
            <a:spLocks noGrp="1"/>
          </p:cNvSpPr>
          <p:nvPr>
            <p:ph type="title"/>
          </p:nvPr>
        </p:nvSpPr>
        <p:spPr>
          <a:xfrm>
            <a:off x="869150" y="525518"/>
            <a:ext cx="5092200" cy="73401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1. GIỚI THIỆU</a:t>
            </a:r>
            <a:endParaRPr dirty="0"/>
          </a:p>
        </p:txBody>
      </p:sp>
      <p:sp>
        <p:nvSpPr>
          <p:cNvPr id="105" name="Google Shape;105;p17"/>
          <p:cNvSpPr txBox="1">
            <a:spLocks noGrp="1"/>
          </p:cNvSpPr>
          <p:nvPr>
            <p:ph type="body" idx="1"/>
          </p:nvPr>
        </p:nvSpPr>
        <p:spPr>
          <a:xfrm>
            <a:off x="753699" y="1473784"/>
            <a:ext cx="7405800" cy="24477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lvl="0" indent="0" algn="l" rtl="0"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analysis:</a:t>
            </a:r>
          </a:p>
          <a:p>
            <a:pPr marL="101600" lvl="0" indent="0" algn="l" rtl="0"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Sentiment Lexicon.</a:t>
            </a:r>
          </a:p>
          <a:p>
            <a:pPr marL="101600" lvl="0" indent="0" algn="l" rtl="0"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Machine Learning.</a:t>
            </a:r>
          </a:p>
          <a:p>
            <a:pPr marL="101600" lvl="0" indent="0" algn="l" rtl="0"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Deep Learning.</a:t>
            </a:r>
          </a:p>
          <a:p>
            <a:pPr marL="101600" lvl="0" indent="0" algn="l" rtl="0"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Sentiment Lexicon, Convolutional neural network, Attention-based, Bi Gated recurrent unit ( SLCABG).</a:t>
            </a:r>
          </a:p>
        </p:txBody>
      </p:sp>
      <p:grpSp>
        <p:nvGrpSpPr>
          <p:cNvPr id="106" name="Google Shape;106;p17"/>
          <p:cNvGrpSpPr/>
          <p:nvPr/>
        </p:nvGrpSpPr>
        <p:grpSpPr>
          <a:xfrm>
            <a:off x="7516121" y="711701"/>
            <a:ext cx="903434" cy="903434"/>
            <a:chOff x="2594325" y="1627175"/>
            <a:chExt cx="440850" cy="440850"/>
          </a:xfrm>
        </p:grpSpPr>
        <p:sp>
          <p:nvSpPr>
            <p:cNvPr id="107" name="Google Shape;107;p17"/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7"/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7"/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" name="Google Shape;110;p17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87426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>
            <a:spLocks noGrp="1"/>
          </p:cNvSpPr>
          <p:nvPr>
            <p:ph type="title"/>
          </p:nvPr>
        </p:nvSpPr>
        <p:spPr>
          <a:xfrm>
            <a:off x="869150" y="683345"/>
            <a:ext cx="6954050" cy="73401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2. Related work</a:t>
            </a:r>
            <a:endParaRPr dirty="0"/>
          </a:p>
        </p:txBody>
      </p:sp>
      <p:grpSp>
        <p:nvGrpSpPr>
          <p:cNvPr id="138" name="Google Shape;138;p19"/>
          <p:cNvGrpSpPr/>
          <p:nvPr/>
        </p:nvGrpSpPr>
        <p:grpSpPr>
          <a:xfrm>
            <a:off x="7516121" y="711701"/>
            <a:ext cx="903434" cy="903434"/>
            <a:chOff x="2594325" y="1627175"/>
            <a:chExt cx="440850" cy="440850"/>
          </a:xfrm>
        </p:grpSpPr>
        <p:sp>
          <p:nvSpPr>
            <p:cNvPr id="139" name="Google Shape;139;p19"/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9"/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9"/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" name="Google Shape;142;p19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21" name="Google Shape;136;p19">
            <a:extLst>
              <a:ext uri="{FF2B5EF4-FFF2-40B4-BE49-F238E27FC236}">
                <a16:creationId xmlns:a16="http://schemas.microsoft.com/office/drawing/2014/main" id="{1C982E29-E649-4395-95BA-C7C5706A8F1A}"/>
              </a:ext>
            </a:extLst>
          </p:cNvPr>
          <p:cNvSpPr txBox="1">
            <a:spLocks/>
          </p:cNvSpPr>
          <p:nvPr/>
        </p:nvSpPr>
        <p:spPr>
          <a:xfrm>
            <a:off x="1264999" y="1417361"/>
            <a:ext cx="3619822" cy="46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A: Sentiment lexicon</a:t>
            </a:r>
          </a:p>
        </p:txBody>
      </p:sp>
      <p:sp>
        <p:nvSpPr>
          <p:cNvPr id="11" name="Google Shape;136;p19">
            <a:extLst>
              <a:ext uri="{FF2B5EF4-FFF2-40B4-BE49-F238E27FC236}">
                <a16:creationId xmlns:a16="http://schemas.microsoft.com/office/drawing/2014/main" id="{20C70D22-2256-8F26-5003-3943E191CC3C}"/>
              </a:ext>
            </a:extLst>
          </p:cNvPr>
          <p:cNvSpPr txBox="1">
            <a:spLocks/>
          </p:cNvSpPr>
          <p:nvPr/>
        </p:nvSpPr>
        <p:spPr>
          <a:xfrm>
            <a:off x="6338273" y="1873924"/>
            <a:ext cx="1927380" cy="2472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Hate</a:t>
            </a:r>
          </a:p>
          <a:p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Never</a:t>
            </a:r>
          </a:p>
          <a:p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Cold</a:t>
            </a:r>
          </a:p>
          <a:p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Google Shape;136;p19">
            <a:extLst>
              <a:ext uri="{FF2B5EF4-FFF2-40B4-BE49-F238E27FC236}">
                <a16:creationId xmlns:a16="http://schemas.microsoft.com/office/drawing/2014/main" id="{0ECFBD03-2068-5520-E644-B9472FE8A5FE}"/>
              </a:ext>
            </a:extLst>
          </p:cNvPr>
          <p:cNvSpPr txBox="1">
            <a:spLocks/>
          </p:cNvSpPr>
          <p:nvPr/>
        </p:nvSpPr>
        <p:spPr>
          <a:xfrm>
            <a:off x="1591279" y="1873924"/>
            <a:ext cx="1127858" cy="2472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Love</a:t>
            </a:r>
          </a:p>
          <a:p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</a:t>
            </a:r>
          </a:p>
          <a:p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</a:t>
            </a:r>
          </a:p>
          <a:p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happystickers #emoji #emote #emotes #love B - Emote Love, HD Png Download -  kindpng">
            <a:extLst>
              <a:ext uri="{FF2B5EF4-FFF2-40B4-BE49-F238E27FC236}">
                <a16:creationId xmlns:a16="http://schemas.microsoft.com/office/drawing/2014/main" id="{69E013F0-20EA-BF37-BB31-E2EA39964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2025" y="1944650"/>
            <a:ext cx="704926" cy="707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Emoticon Hate Symbol Vector Images (over 260)">
            <a:extLst>
              <a:ext uri="{FF2B5EF4-FFF2-40B4-BE49-F238E27FC236}">
                <a16:creationId xmlns:a16="http://schemas.microsoft.com/office/drawing/2014/main" id="{FFF82BCC-3F2A-BE84-91DC-36E810D7E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2158" y="1826757"/>
            <a:ext cx="898009" cy="943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F64F4DB-D09E-399D-F53C-D211907AA3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6694" y="1459578"/>
            <a:ext cx="6105525" cy="2933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>
            <a:spLocks noGrp="1"/>
          </p:cNvSpPr>
          <p:nvPr>
            <p:ph type="title"/>
          </p:nvPr>
        </p:nvSpPr>
        <p:spPr>
          <a:xfrm>
            <a:off x="869150" y="683345"/>
            <a:ext cx="6954050" cy="73401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2. Related work</a:t>
            </a:r>
            <a:endParaRPr dirty="0"/>
          </a:p>
        </p:txBody>
      </p:sp>
      <p:grpSp>
        <p:nvGrpSpPr>
          <p:cNvPr id="138" name="Google Shape;138;p19"/>
          <p:cNvGrpSpPr/>
          <p:nvPr/>
        </p:nvGrpSpPr>
        <p:grpSpPr>
          <a:xfrm>
            <a:off x="7516121" y="711701"/>
            <a:ext cx="903434" cy="903434"/>
            <a:chOff x="2594325" y="1627175"/>
            <a:chExt cx="440850" cy="440850"/>
          </a:xfrm>
        </p:grpSpPr>
        <p:sp>
          <p:nvSpPr>
            <p:cNvPr id="139" name="Google Shape;139;p19"/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9"/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9"/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" name="Google Shape;142;p19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9F1D0B-3BEC-E4FB-6F04-C5B144978A12}"/>
              </a:ext>
            </a:extLst>
          </p:cNvPr>
          <p:cNvSpPr txBox="1"/>
          <p:nvPr/>
        </p:nvSpPr>
        <p:spPr>
          <a:xfrm>
            <a:off x="869150" y="1615135"/>
            <a:ext cx="69540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Sentiment lexicon:</a:t>
            </a:r>
            <a:endParaRPr lang="en-US" dirty="0"/>
          </a:p>
          <a:p>
            <a:r>
              <a:rPr lang="en-US" dirty="0"/>
              <a:t>	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manual </a:t>
            </a:r>
            <a:r>
              <a:rPr lang="en-US" dirty="0" err="1"/>
              <a:t>maintainance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Machine learning:</a:t>
            </a:r>
          </a:p>
          <a:p>
            <a:r>
              <a:rPr lang="en-US" dirty="0"/>
              <a:t>	Tự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trích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features.</a:t>
            </a:r>
          </a:p>
          <a:p>
            <a:r>
              <a:rPr lang="en-US" dirty="0"/>
              <a:t>	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vấn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.</a:t>
            </a:r>
          </a:p>
          <a:p>
            <a:r>
              <a:rPr lang="en-US" dirty="0"/>
              <a:t>	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manual selection.</a:t>
            </a:r>
          </a:p>
          <a:p>
            <a:endParaRPr lang="en-US" dirty="0"/>
          </a:p>
          <a:p>
            <a:r>
              <a:rPr lang="en-US" b="1" dirty="0"/>
              <a:t>Deep learning:</a:t>
            </a:r>
          </a:p>
          <a:p>
            <a:r>
              <a:rPr lang="en-US" dirty="0"/>
              <a:t>	Tự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lí</a:t>
            </a:r>
            <a:r>
              <a:rPr lang="en-US" dirty="0"/>
              <a:t> update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.</a:t>
            </a:r>
          </a:p>
          <a:p>
            <a:r>
              <a:rPr lang="en-US" dirty="0"/>
              <a:t>	tự </a:t>
            </a:r>
            <a:r>
              <a:rPr lang="en-US" dirty="0" err="1"/>
              <a:t>động</a:t>
            </a:r>
            <a:r>
              <a:rPr lang="en-US" dirty="0"/>
              <a:t> select feature và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thiểu</a:t>
            </a:r>
            <a:r>
              <a:rPr lang="en-US" dirty="0"/>
              <a:t> </a:t>
            </a:r>
            <a:r>
              <a:rPr lang="en-US" dirty="0" err="1"/>
              <a:t>tỉ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</a:t>
            </a:r>
            <a:r>
              <a:rPr lang="en-US" dirty="0" err="1"/>
              <a:t>sai</a:t>
            </a:r>
            <a:r>
              <a:rPr lang="en-US" dirty="0"/>
              <a:t> qua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.</a:t>
            </a:r>
          </a:p>
          <a:p>
            <a:r>
              <a:rPr lang="en-US" dirty="0"/>
              <a:t>	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nhiều model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lợi</a:t>
            </a:r>
            <a:r>
              <a:rPr lang="en-US" dirty="0"/>
              <a:t> ích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so </a:t>
            </a:r>
            <a:r>
              <a:rPr lang="en-US" dirty="0" err="1"/>
              <a:t>với</a:t>
            </a:r>
            <a:r>
              <a:rPr lang="en-US" dirty="0"/>
              <a:t> machine learning.</a:t>
            </a:r>
          </a:p>
        </p:txBody>
      </p:sp>
    </p:spTree>
    <p:extLst>
      <p:ext uri="{BB962C8B-B14F-4D97-AF65-F5344CB8AC3E}">
        <p14:creationId xmlns:p14="http://schemas.microsoft.com/office/powerpoint/2010/main" val="424796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>
            <a:spLocks noGrp="1"/>
          </p:cNvSpPr>
          <p:nvPr>
            <p:ph type="title"/>
          </p:nvPr>
        </p:nvSpPr>
        <p:spPr>
          <a:xfrm>
            <a:off x="869150" y="678154"/>
            <a:ext cx="5092200" cy="59266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Phương pháp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1" name="Google Shape;151;p20"/>
          <p:cNvGrpSpPr/>
          <p:nvPr/>
        </p:nvGrpSpPr>
        <p:grpSpPr>
          <a:xfrm>
            <a:off x="7516121" y="711701"/>
            <a:ext cx="903434" cy="903434"/>
            <a:chOff x="2594325" y="1627175"/>
            <a:chExt cx="440850" cy="440850"/>
          </a:xfrm>
        </p:grpSpPr>
        <p:sp>
          <p:nvSpPr>
            <p:cNvPr id="152" name="Google Shape;152;p20"/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0"/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0"/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" name="Google Shape;155;p20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C08C65-522A-A6E4-0EB4-5826F6984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999" y="1252255"/>
            <a:ext cx="1285875" cy="1333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FA8D2D-E21E-59B7-74EC-610E7AC927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2603" y="1557055"/>
            <a:ext cx="790575" cy="7239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F38B6E2-7F82-0121-E474-83259A1379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0032" y="1444906"/>
            <a:ext cx="781050" cy="10287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539C137-4AB3-0877-822C-6E5F83CFDC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9775" y="1621119"/>
            <a:ext cx="847725" cy="6762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51E2414-8B2E-64B7-BC78-6092C4B356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8254" y="1473784"/>
            <a:ext cx="647700" cy="8953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E5C7F10-0BD9-7F85-EC57-44EE897635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6311116" y="2602194"/>
            <a:ext cx="800100" cy="4095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C32143D-1808-F955-B4FC-20CA1F5611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615" y="3119720"/>
            <a:ext cx="2762250" cy="15430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9A44284-FC79-34C3-A8F3-285AA316DB1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615" y="3362305"/>
            <a:ext cx="762000" cy="58102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85DD5B6-5B79-969F-47A9-1BF8DEAA2AE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93959" y="3106654"/>
            <a:ext cx="571500" cy="15430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BE9F9CD-F470-4D0A-2CBD-84913E2713B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47394" y="3482677"/>
            <a:ext cx="695325" cy="4667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D065D6C-A58F-7F97-55A9-DE0AF65C862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3869" y="3362305"/>
            <a:ext cx="1152525" cy="1238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p24"/>
          <p:cNvGrpSpPr/>
          <p:nvPr/>
        </p:nvGrpSpPr>
        <p:grpSpPr>
          <a:xfrm>
            <a:off x="7511274" y="711512"/>
            <a:ext cx="908156" cy="948145"/>
            <a:chOff x="3294650" y="3652450"/>
            <a:chExt cx="388350" cy="405450"/>
          </a:xfrm>
        </p:grpSpPr>
        <p:sp>
          <p:nvSpPr>
            <p:cNvPr id="189" name="Google Shape;189;p24"/>
            <p:cNvSpPr/>
            <p:nvPr/>
          </p:nvSpPr>
          <p:spPr>
            <a:xfrm>
              <a:off x="3294650" y="3681775"/>
              <a:ext cx="376150" cy="376125"/>
            </a:xfrm>
            <a:custGeom>
              <a:avLst/>
              <a:gdLst/>
              <a:ahLst/>
              <a:cxnLst/>
              <a:rect l="l" t="t" r="r" b="b"/>
              <a:pathLst>
                <a:path w="15046" h="15045" extrusionOk="0">
                  <a:moveTo>
                    <a:pt x="7132" y="0"/>
                  </a:moveTo>
                  <a:lnTo>
                    <a:pt x="6766" y="49"/>
                  </a:lnTo>
                  <a:lnTo>
                    <a:pt x="6375" y="98"/>
                  </a:lnTo>
                  <a:lnTo>
                    <a:pt x="6009" y="147"/>
                  </a:lnTo>
                  <a:lnTo>
                    <a:pt x="5642" y="244"/>
                  </a:lnTo>
                  <a:lnTo>
                    <a:pt x="5276" y="342"/>
                  </a:lnTo>
                  <a:lnTo>
                    <a:pt x="4934" y="464"/>
                  </a:lnTo>
                  <a:lnTo>
                    <a:pt x="4592" y="586"/>
                  </a:lnTo>
                  <a:lnTo>
                    <a:pt x="4250" y="733"/>
                  </a:lnTo>
                  <a:lnTo>
                    <a:pt x="3933" y="904"/>
                  </a:lnTo>
                  <a:lnTo>
                    <a:pt x="3615" y="1099"/>
                  </a:lnTo>
                  <a:lnTo>
                    <a:pt x="3322" y="1295"/>
                  </a:lnTo>
                  <a:lnTo>
                    <a:pt x="3029" y="1490"/>
                  </a:lnTo>
                  <a:lnTo>
                    <a:pt x="2736" y="1710"/>
                  </a:lnTo>
                  <a:lnTo>
                    <a:pt x="2467" y="1954"/>
                  </a:lnTo>
                  <a:lnTo>
                    <a:pt x="2199" y="2198"/>
                  </a:lnTo>
                  <a:lnTo>
                    <a:pt x="1954" y="2467"/>
                  </a:lnTo>
                  <a:lnTo>
                    <a:pt x="1710" y="2736"/>
                  </a:lnTo>
                  <a:lnTo>
                    <a:pt x="1490" y="3029"/>
                  </a:lnTo>
                  <a:lnTo>
                    <a:pt x="1295" y="3322"/>
                  </a:lnTo>
                  <a:lnTo>
                    <a:pt x="1100" y="3615"/>
                  </a:lnTo>
                  <a:lnTo>
                    <a:pt x="904" y="3932"/>
                  </a:lnTo>
                  <a:lnTo>
                    <a:pt x="733" y="4250"/>
                  </a:lnTo>
                  <a:lnTo>
                    <a:pt x="587" y="4592"/>
                  </a:lnTo>
                  <a:lnTo>
                    <a:pt x="465" y="4934"/>
                  </a:lnTo>
                  <a:lnTo>
                    <a:pt x="342" y="5276"/>
                  </a:lnTo>
                  <a:lnTo>
                    <a:pt x="245" y="5642"/>
                  </a:lnTo>
                  <a:lnTo>
                    <a:pt x="147" y="6008"/>
                  </a:lnTo>
                  <a:lnTo>
                    <a:pt x="98" y="6375"/>
                  </a:lnTo>
                  <a:lnTo>
                    <a:pt x="49" y="6765"/>
                  </a:lnTo>
                  <a:lnTo>
                    <a:pt x="0" y="7132"/>
                  </a:lnTo>
                  <a:lnTo>
                    <a:pt x="0" y="7522"/>
                  </a:lnTo>
                  <a:lnTo>
                    <a:pt x="0" y="7913"/>
                  </a:lnTo>
                  <a:lnTo>
                    <a:pt x="49" y="8280"/>
                  </a:lnTo>
                  <a:lnTo>
                    <a:pt x="98" y="8670"/>
                  </a:lnTo>
                  <a:lnTo>
                    <a:pt x="147" y="9037"/>
                  </a:lnTo>
                  <a:lnTo>
                    <a:pt x="245" y="9403"/>
                  </a:lnTo>
                  <a:lnTo>
                    <a:pt x="342" y="9769"/>
                  </a:lnTo>
                  <a:lnTo>
                    <a:pt x="465" y="10111"/>
                  </a:lnTo>
                  <a:lnTo>
                    <a:pt x="587" y="10453"/>
                  </a:lnTo>
                  <a:lnTo>
                    <a:pt x="733" y="10795"/>
                  </a:lnTo>
                  <a:lnTo>
                    <a:pt x="904" y="11113"/>
                  </a:lnTo>
                  <a:lnTo>
                    <a:pt x="1100" y="11430"/>
                  </a:lnTo>
                  <a:lnTo>
                    <a:pt x="1295" y="11723"/>
                  </a:lnTo>
                  <a:lnTo>
                    <a:pt x="1490" y="12016"/>
                  </a:lnTo>
                  <a:lnTo>
                    <a:pt x="1710" y="12309"/>
                  </a:lnTo>
                  <a:lnTo>
                    <a:pt x="1954" y="12578"/>
                  </a:lnTo>
                  <a:lnTo>
                    <a:pt x="2199" y="12847"/>
                  </a:lnTo>
                  <a:lnTo>
                    <a:pt x="2467" y="13091"/>
                  </a:lnTo>
                  <a:lnTo>
                    <a:pt x="2736" y="13335"/>
                  </a:lnTo>
                  <a:lnTo>
                    <a:pt x="3029" y="13555"/>
                  </a:lnTo>
                  <a:lnTo>
                    <a:pt x="3322" y="13750"/>
                  </a:lnTo>
                  <a:lnTo>
                    <a:pt x="3615" y="13946"/>
                  </a:lnTo>
                  <a:lnTo>
                    <a:pt x="3933" y="14141"/>
                  </a:lnTo>
                  <a:lnTo>
                    <a:pt x="4250" y="14312"/>
                  </a:lnTo>
                  <a:lnTo>
                    <a:pt x="4592" y="14459"/>
                  </a:lnTo>
                  <a:lnTo>
                    <a:pt x="4934" y="14581"/>
                  </a:lnTo>
                  <a:lnTo>
                    <a:pt x="5276" y="14703"/>
                  </a:lnTo>
                  <a:lnTo>
                    <a:pt x="5642" y="14801"/>
                  </a:lnTo>
                  <a:lnTo>
                    <a:pt x="6009" y="14898"/>
                  </a:lnTo>
                  <a:lnTo>
                    <a:pt x="6375" y="14947"/>
                  </a:lnTo>
                  <a:lnTo>
                    <a:pt x="6766" y="14996"/>
                  </a:lnTo>
                  <a:lnTo>
                    <a:pt x="7132" y="15045"/>
                  </a:lnTo>
                  <a:lnTo>
                    <a:pt x="7914" y="15045"/>
                  </a:lnTo>
                  <a:lnTo>
                    <a:pt x="8280" y="14996"/>
                  </a:lnTo>
                  <a:lnTo>
                    <a:pt x="8671" y="14947"/>
                  </a:lnTo>
                  <a:lnTo>
                    <a:pt x="9037" y="14898"/>
                  </a:lnTo>
                  <a:lnTo>
                    <a:pt x="9403" y="14801"/>
                  </a:lnTo>
                  <a:lnTo>
                    <a:pt x="9770" y="14703"/>
                  </a:lnTo>
                  <a:lnTo>
                    <a:pt x="10112" y="14581"/>
                  </a:lnTo>
                  <a:lnTo>
                    <a:pt x="10454" y="14459"/>
                  </a:lnTo>
                  <a:lnTo>
                    <a:pt x="10795" y="14312"/>
                  </a:lnTo>
                  <a:lnTo>
                    <a:pt x="11113" y="14141"/>
                  </a:lnTo>
                  <a:lnTo>
                    <a:pt x="11430" y="13946"/>
                  </a:lnTo>
                  <a:lnTo>
                    <a:pt x="11724" y="13750"/>
                  </a:lnTo>
                  <a:lnTo>
                    <a:pt x="12017" y="13555"/>
                  </a:lnTo>
                  <a:lnTo>
                    <a:pt x="12310" y="13335"/>
                  </a:lnTo>
                  <a:lnTo>
                    <a:pt x="12578" y="13091"/>
                  </a:lnTo>
                  <a:lnTo>
                    <a:pt x="12847" y="12847"/>
                  </a:lnTo>
                  <a:lnTo>
                    <a:pt x="13091" y="12578"/>
                  </a:lnTo>
                  <a:lnTo>
                    <a:pt x="13335" y="12309"/>
                  </a:lnTo>
                  <a:lnTo>
                    <a:pt x="13555" y="12016"/>
                  </a:lnTo>
                  <a:lnTo>
                    <a:pt x="13751" y="11723"/>
                  </a:lnTo>
                  <a:lnTo>
                    <a:pt x="13946" y="11430"/>
                  </a:lnTo>
                  <a:lnTo>
                    <a:pt x="14141" y="11113"/>
                  </a:lnTo>
                  <a:lnTo>
                    <a:pt x="14312" y="10795"/>
                  </a:lnTo>
                  <a:lnTo>
                    <a:pt x="14459" y="10453"/>
                  </a:lnTo>
                  <a:lnTo>
                    <a:pt x="14581" y="10111"/>
                  </a:lnTo>
                  <a:lnTo>
                    <a:pt x="14703" y="9769"/>
                  </a:lnTo>
                  <a:lnTo>
                    <a:pt x="14801" y="9403"/>
                  </a:lnTo>
                  <a:lnTo>
                    <a:pt x="14899" y="9037"/>
                  </a:lnTo>
                  <a:lnTo>
                    <a:pt x="14947" y="8670"/>
                  </a:lnTo>
                  <a:lnTo>
                    <a:pt x="14996" y="8280"/>
                  </a:lnTo>
                  <a:lnTo>
                    <a:pt x="15045" y="7913"/>
                  </a:lnTo>
                  <a:lnTo>
                    <a:pt x="15045" y="7522"/>
                  </a:lnTo>
                  <a:lnTo>
                    <a:pt x="7523" y="7522"/>
                  </a:lnTo>
                  <a:lnTo>
                    <a:pt x="752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4"/>
            <p:cNvSpPr/>
            <p:nvPr/>
          </p:nvSpPr>
          <p:spPr>
            <a:xfrm>
              <a:off x="3494925" y="3760525"/>
              <a:ext cx="188075" cy="97100"/>
            </a:xfrm>
            <a:custGeom>
              <a:avLst/>
              <a:gdLst/>
              <a:ahLst/>
              <a:cxnLst/>
              <a:rect l="l" t="t" r="r" b="b"/>
              <a:pathLst>
                <a:path w="7523" h="3884" extrusionOk="0">
                  <a:moveTo>
                    <a:pt x="2491" y="2956"/>
                  </a:moveTo>
                  <a:lnTo>
                    <a:pt x="2491" y="3396"/>
                  </a:lnTo>
                  <a:lnTo>
                    <a:pt x="1759" y="3396"/>
                  </a:lnTo>
                  <a:lnTo>
                    <a:pt x="2491" y="2956"/>
                  </a:lnTo>
                  <a:close/>
                  <a:moveTo>
                    <a:pt x="3346" y="2443"/>
                  </a:moveTo>
                  <a:lnTo>
                    <a:pt x="3346" y="3396"/>
                  </a:lnTo>
                  <a:lnTo>
                    <a:pt x="2980" y="3396"/>
                  </a:lnTo>
                  <a:lnTo>
                    <a:pt x="2980" y="2663"/>
                  </a:lnTo>
                  <a:lnTo>
                    <a:pt x="3346" y="2443"/>
                  </a:lnTo>
                  <a:close/>
                  <a:moveTo>
                    <a:pt x="4201" y="1930"/>
                  </a:moveTo>
                  <a:lnTo>
                    <a:pt x="4201" y="3396"/>
                  </a:lnTo>
                  <a:lnTo>
                    <a:pt x="3835" y="3396"/>
                  </a:lnTo>
                  <a:lnTo>
                    <a:pt x="3835" y="2150"/>
                  </a:lnTo>
                  <a:lnTo>
                    <a:pt x="3835" y="2150"/>
                  </a:lnTo>
                  <a:lnTo>
                    <a:pt x="4201" y="1930"/>
                  </a:lnTo>
                  <a:close/>
                  <a:moveTo>
                    <a:pt x="5056" y="1393"/>
                  </a:moveTo>
                  <a:lnTo>
                    <a:pt x="5056" y="3396"/>
                  </a:lnTo>
                  <a:lnTo>
                    <a:pt x="4689" y="3396"/>
                  </a:lnTo>
                  <a:lnTo>
                    <a:pt x="4689" y="1637"/>
                  </a:lnTo>
                  <a:lnTo>
                    <a:pt x="5056" y="1393"/>
                  </a:lnTo>
                  <a:close/>
                  <a:moveTo>
                    <a:pt x="5911" y="885"/>
                  </a:moveTo>
                  <a:lnTo>
                    <a:pt x="5911" y="3396"/>
                  </a:lnTo>
                  <a:lnTo>
                    <a:pt x="5544" y="3396"/>
                  </a:lnTo>
                  <a:lnTo>
                    <a:pt x="5544" y="1100"/>
                  </a:lnTo>
                  <a:lnTo>
                    <a:pt x="5911" y="885"/>
                  </a:lnTo>
                  <a:close/>
                  <a:moveTo>
                    <a:pt x="6399" y="978"/>
                  </a:moveTo>
                  <a:lnTo>
                    <a:pt x="6619" y="1539"/>
                  </a:lnTo>
                  <a:lnTo>
                    <a:pt x="6790" y="2031"/>
                  </a:lnTo>
                  <a:lnTo>
                    <a:pt x="6790" y="3396"/>
                  </a:lnTo>
                  <a:lnTo>
                    <a:pt x="6399" y="3396"/>
                  </a:lnTo>
                  <a:lnTo>
                    <a:pt x="6399" y="978"/>
                  </a:lnTo>
                  <a:close/>
                  <a:moveTo>
                    <a:pt x="6448" y="1"/>
                  </a:moveTo>
                  <a:lnTo>
                    <a:pt x="0" y="3884"/>
                  </a:lnTo>
                  <a:lnTo>
                    <a:pt x="7523" y="3884"/>
                  </a:lnTo>
                  <a:lnTo>
                    <a:pt x="7498" y="3347"/>
                  </a:lnTo>
                  <a:lnTo>
                    <a:pt x="7449" y="2834"/>
                  </a:lnTo>
                  <a:lnTo>
                    <a:pt x="7352" y="2321"/>
                  </a:lnTo>
                  <a:lnTo>
                    <a:pt x="7229" y="1832"/>
                  </a:lnTo>
                  <a:lnTo>
                    <a:pt x="7083" y="1344"/>
                  </a:lnTo>
                  <a:lnTo>
                    <a:pt x="6912" y="880"/>
                  </a:lnTo>
                  <a:lnTo>
                    <a:pt x="6692" y="440"/>
                  </a:lnTo>
                  <a:lnTo>
                    <a:pt x="644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4"/>
            <p:cNvSpPr/>
            <p:nvPr/>
          </p:nvSpPr>
          <p:spPr>
            <a:xfrm>
              <a:off x="3494925" y="3652450"/>
              <a:ext cx="161200" cy="188100"/>
            </a:xfrm>
            <a:custGeom>
              <a:avLst/>
              <a:gdLst/>
              <a:ahLst/>
              <a:cxnLst/>
              <a:rect l="l" t="t" r="r" b="b"/>
              <a:pathLst>
                <a:path w="6448" h="7524" extrusionOk="0">
                  <a:moveTo>
                    <a:pt x="489" y="514"/>
                  </a:moveTo>
                  <a:lnTo>
                    <a:pt x="879" y="538"/>
                  </a:lnTo>
                  <a:lnTo>
                    <a:pt x="1270" y="611"/>
                  </a:lnTo>
                  <a:lnTo>
                    <a:pt x="1661" y="685"/>
                  </a:lnTo>
                  <a:lnTo>
                    <a:pt x="2052" y="782"/>
                  </a:lnTo>
                  <a:lnTo>
                    <a:pt x="2418" y="929"/>
                  </a:lnTo>
                  <a:lnTo>
                    <a:pt x="2809" y="1075"/>
                  </a:lnTo>
                  <a:lnTo>
                    <a:pt x="3151" y="1246"/>
                  </a:lnTo>
                  <a:lnTo>
                    <a:pt x="3517" y="1417"/>
                  </a:lnTo>
                  <a:lnTo>
                    <a:pt x="3835" y="1637"/>
                  </a:lnTo>
                  <a:lnTo>
                    <a:pt x="4152" y="1857"/>
                  </a:lnTo>
                  <a:lnTo>
                    <a:pt x="4445" y="2077"/>
                  </a:lnTo>
                  <a:lnTo>
                    <a:pt x="4738" y="2321"/>
                  </a:lnTo>
                  <a:lnTo>
                    <a:pt x="5031" y="2590"/>
                  </a:lnTo>
                  <a:lnTo>
                    <a:pt x="5276" y="2883"/>
                  </a:lnTo>
                  <a:lnTo>
                    <a:pt x="5520" y="3176"/>
                  </a:lnTo>
                  <a:lnTo>
                    <a:pt x="5764" y="3493"/>
                  </a:lnTo>
                  <a:lnTo>
                    <a:pt x="489" y="6668"/>
                  </a:lnTo>
                  <a:lnTo>
                    <a:pt x="489" y="514"/>
                  </a:lnTo>
                  <a:close/>
                  <a:moveTo>
                    <a:pt x="0" y="1"/>
                  </a:moveTo>
                  <a:lnTo>
                    <a:pt x="0" y="7523"/>
                  </a:lnTo>
                  <a:lnTo>
                    <a:pt x="6448" y="3640"/>
                  </a:lnTo>
                  <a:lnTo>
                    <a:pt x="6179" y="3249"/>
                  </a:lnTo>
                  <a:lnTo>
                    <a:pt x="5911" y="2858"/>
                  </a:lnTo>
                  <a:lnTo>
                    <a:pt x="5593" y="2492"/>
                  </a:lnTo>
                  <a:lnTo>
                    <a:pt x="5276" y="2150"/>
                  </a:lnTo>
                  <a:lnTo>
                    <a:pt x="4909" y="1833"/>
                  </a:lnTo>
                  <a:lnTo>
                    <a:pt x="4543" y="1540"/>
                  </a:lnTo>
                  <a:lnTo>
                    <a:pt x="4152" y="1246"/>
                  </a:lnTo>
                  <a:lnTo>
                    <a:pt x="3761" y="1002"/>
                  </a:lnTo>
                  <a:lnTo>
                    <a:pt x="3322" y="782"/>
                  </a:lnTo>
                  <a:lnTo>
                    <a:pt x="2882" y="587"/>
                  </a:lnTo>
                  <a:lnTo>
                    <a:pt x="2443" y="416"/>
                  </a:lnTo>
                  <a:lnTo>
                    <a:pt x="1978" y="270"/>
                  </a:lnTo>
                  <a:lnTo>
                    <a:pt x="1490" y="147"/>
                  </a:lnTo>
                  <a:lnTo>
                    <a:pt x="1002" y="74"/>
                  </a:lnTo>
                  <a:lnTo>
                    <a:pt x="513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2" name="Google Shape;192;p24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8" name="Google Shape;147;p20">
            <a:extLst>
              <a:ext uri="{FF2B5EF4-FFF2-40B4-BE49-F238E27FC236}">
                <a16:creationId xmlns:a16="http://schemas.microsoft.com/office/drawing/2014/main" id="{E4D3C7AA-7A2A-46CC-A3B7-69E985DC83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9150" y="678154"/>
            <a:ext cx="5092200" cy="59266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THỰC NGHIỆM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814374-68E9-E3DD-807D-9DC5D05892D7}"/>
              </a:ext>
            </a:extLst>
          </p:cNvPr>
          <p:cNvSpPr txBox="1"/>
          <p:nvPr/>
        </p:nvSpPr>
        <p:spPr>
          <a:xfrm>
            <a:off x="1074248" y="1659657"/>
            <a:ext cx="46820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UcPeriod"/>
            </a:pPr>
            <a:r>
              <a:rPr lang="en-US" sz="1600" dirty="0"/>
              <a:t>Dataset</a:t>
            </a:r>
          </a:p>
          <a:p>
            <a:pPr marL="342900" indent="-342900">
              <a:buAutoNum type="alphaUcPeriod"/>
            </a:pPr>
            <a:endParaRPr lang="en-US" sz="1600" dirty="0"/>
          </a:p>
          <a:p>
            <a:r>
              <a:rPr lang="en-US" sz="1600" dirty="0" err="1"/>
              <a:t>Dữ</a:t>
            </a:r>
            <a:r>
              <a:rPr lang="en-US" sz="1600" dirty="0"/>
              <a:t> </a:t>
            </a:r>
            <a:r>
              <a:rPr lang="en-US" sz="1600" dirty="0" err="1"/>
              <a:t>liệu</a:t>
            </a:r>
            <a:r>
              <a:rPr lang="en-US" sz="1600" dirty="0"/>
              <a:t> </a:t>
            </a:r>
            <a:r>
              <a:rPr lang="en-US" sz="1600" dirty="0" err="1"/>
              <a:t>từ</a:t>
            </a:r>
            <a:r>
              <a:rPr lang="en-US" sz="1600" dirty="0"/>
              <a:t> </a:t>
            </a:r>
            <a:r>
              <a:rPr lang="en-US" sz="1600" dirty="0" err="1"/>
              <a:t>trang</a:t>
            </a:r>
            <a:r>
              <a:rPr lang="en-US" sz="1600" dirty="0"/>
              <a:t> web Dangdang: review </a:t>
            </a:r>
            <a:r>
              <a:rPr lang="en-US" sz="1600" dirty="0" err="1"/>
              <a:t>về</a:t>
            </a:r>
            <a:r>
              <a:rPr lang="en-US" sz="1600" dirty="0"/>
              <a:t> </a:t>
            </a:r>
            <a:r>
              <a:rPr lang="en-US" sz="1600" dirty="0" err="1"/>
              <a:t>sách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r>
              <a:rPr lang="en-US" sz="1600" dirty="0" err="1"/>
              <a:t>Gồm</a:t>
            </a:r>
            <a:r>
              <a:rPr lang="en-US" sz="1600" dirty="0"/>
              <a:t> 100.000 reviews:</a:t>
            </a:r>
          </a:p>
          <a:p>
            <a:r>
              <a:rPr lang="en-US" sz="1600" dirty="0"/>
              <a:t>	50.000 positive: 3,4,5 </a:t>
            </a:r>
            <a:r>
              <a:rPr lang="en-US" sz="1600" dirty="0" err="1"/>
              <a:t>sao</a:t>
            </a:r>
            <a:endParaRPr lang="en-US" sz="1600" dirty="0"/>
          </a:p>
          <a:p>
            <a:r>
              <a:rPr lang="en-US" sz="1600" dirty="0"/>
              <a:t>	50.000 negative: 1,2 </a:t>
            </a:r>
            <a:r>
              <a:rPr lang="en-US" sz="1600" dirty="0" err="1"/>
              <a:t>sao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p24"/>
          <p:cNvGrpSpPr/>
          <p:nvPr/>
        </p:nvGrpSpPr>
        <p:grpSpPr>
          <a:xfrm>
            <a:off x="7511274" y="711512"/>
            <a:ext cx="908156" cy="948145"/>
            <a:chOff x="3294650" y="3652450"/>
            <a:chExt cx="388350" cy="405450"/>
          </a:xfrm>
        </p:grpSpPr>
        <p:sp>
          <p:nvSpPr>
            <p:cNvPr id="189" name="Google Shape;189;p24"/>
            <p:cNvSpPr/>
            <p:nvPr/>
          </p:nvSpPr>
          <p:spPr>
            <a:xfrm>
              <a:off x="3294650" y="3681775"/>
              <a:ext cx="376150" cy="376125"/>
            </a:xfrm>
            <a:custGeom>
              <a:avLst/>
              <a:gdLst/>
              <a:ahLst/>
              <a:cxnLst/>
              <a:rect l="l" t="t" r="r" b="b"/>
              <a:pathLst>
                <a:path w="15046" h="15045" extrusionOk="0">
                  <a:moveTo>
                    <a:pt x="7132" y="0"/>
                  </a:moveTo>
                  <a:lnTo>
                    <a:pt x="6766" y="49"/>
                  </a:lnTo>
                  <a:lnTo>
                    <a:pt x="6375" y="98"/>
                  </a:lnTo>
                  <a:lnTo>
                    <a:pt x="6009" y="147"/>
                  </a:lnTo>
                  <a:lnTo>
                    <a:pt x="5642" y="244"/>
                  </a:lnTo>
                  <a:lnTo>
                    <a:pt x="5276" y="342"/>
                  </a:lnTo>
                  <a:lnTo>
                    <a:pt x="4934" y="464"/>
                  </a:lnTo>
                  <a:lnTo>
                    <a:pt x="4592" y="586"/>
                  </a:lnTo>
                  <a:lnTo>
                    <a:pt x="4250" y="733"/>
                  </a:lnTo>
                  <a:lnTo>
                    <a:pt x="3933" y="904"/>
                  </a:lnTo>
                  <a:lnTo>
                    <a:pt x="3615" y="1099"/>
                  </a:lnTo>
                  <a:lnTo>
                    <a:pt x="3322" y="1295"/>
                  </a:lnTo>
                  <a:lnTo>
                    <a:pt x="3029" y="1490"/>
                  </a:lnTo>
                  <a:lnTo>
                    <a:pt x="2736" y="1710"/>
                  </a:lnTo>
                  <a:lnTo>
                    <a:pt x="2467" y="1954"/>
                  </a:lnTo>
                  <a:lnTo>
                    <a:pt x="2199" y="2198"/>
                  </a:lnTo>
                  <a:lnTo>
                    <a:pt x="1954" y="2467"/>
                  </a:lnTo>
                  <a:lnTo>
                    <a:pt x="1710" y="2736"/>
                  </a:lnTo>
                  <a:lnTo>
                    <a:pt x="1490" y="3029"/>
                  </a:lnTo>
                  <a:lnTo>
                    <a:pt x="1295" y="3322"/>
                  </a:lnTo>
                  <a:lnTo>
                    <a:pt x="1100" y="3615"/>
                  </a:lnTo>
                  <a:lnTo>
                    <a:pt x="904" y="3932"/>
                  </a:lnTo>
                  <a:lnTo>
                    <a:pt x="733" y="4250"/>
                  </a:lnTo>
                  <a:lnTo>
                    <a:pt x="587" y="4592"/>
                  </a:lnTo>
                  <a:lnTo>
                    <a:pt x="465" y="4934"/>
                  </a:lnTo>
                  <a:lnTo>
                    <a:pt x="342" y="5276"/>
                  </a:lnTo>
                  <a:lnTo>
                    <a:pt x="245" y="5642"/>
                  </a:lnTo>
                  <a:lnTo>
                    <a:pt x="147" y="6008"/>
                  </a:lnTo>
                  <a:lnTo>
                    <a:pt x="98" y="6375"/>
                  </a:lnTo>
                  <a:lnTo>
                    <a:pt x="49" y="6765"/>
                  </a:lnTo>
                  <a:lnTo>
                    <a:pt x="0" y="7132"/>
                  </a:lnTo>
                  <a:lnTo>
                    <a:pt x="0" y="7522"/>
                  </a:lnTo>
                  <a:lnTo>
                    <a:pt x="0" y="7913"/>
                  </a:lnTo>
                  <a:lnTo>
                    <a:pt x="49" y="8280"/>
                  </a:lnTo>
                  <a:lnTo>
                    <a:pt x="98" y="8670"/>
                  </a:lnTo>
                  <a:lnTo>
                    <a:pt x="147" y="9037"/>
                  </a:lnTo>
                  <a:lnTo>
                    <a:pt x="245" y="9403"/>
                  </a:lnTo>
                  <a:lnTo>
                    <a:pt x="342" y="9769"/>
                  </a:lnTo>
                  <a:lnTo>
                    <a:pt x="465" y="10111"/>
                  </a:lnTo>
                  <a:lnTo>
                    <a:pt x="587" y="10453"/>
                  </a:lnTo>
                  <a:lnTo>
                    <a:pt x="733" y="10795"/>
                  </a:lnTo>
                  <a:lnTo>
                    <a:pt x="904" y="11113"/>
                  </a:lnTo>
                  <a:lnTo>
                    <a:pt x="1100" y="11430"/>
                  </a:lnTo>
                  <a:lnTo>
                    <a:pt x="1295" y="11723"/>
                  </a:lnTo>
                  <a:lnTo>
                    <a:pt x="1490" y="12016"/>
                  </a:lnTo>
                  <a:lnTo>
                    <a:pt x="1710" y="12309"/>
                  </a:lnTo>
                  <a:lnTo>
                    <a:pt x="1954" y="12578"/>
                  </a:lnTo>
                  <a:lnTo>
                    <a:pt x="2199" y="12847"/>
                  </a:lnTo>
                  <a:lnTo>
                    <a:pt x="2467" y="13091"/>
                  </a:lnTo>
                  <a:lnTo>
                    <a:pt x="2736" y="13335"/>
                  </a:lnTo>
                  <a:lnTo>
                    <a:pt x="3029" y="13555"/>
                  </a:lnTo>
                  <a:lnTo>
                    <a:pt x="3322" y="13750"/>
                  </a:lnTo>
                  <a:lnTo>
                    <a:pt x="3615" y="13946"/>
                  </a:lnTo>
                  <a:lnTo>
                    <a:pt x="3933" y="14141"/>
                  </a:lnTo>
                  <a:lnTo>
                    <a:pt x="4250" y="14312"/>
                  </a:lnTo>
                  <a:lnTo>
                    <a:pt x="4592" y="14459"/>
                  </a:lnTo>
                  <a:lnTo>
                    <a:pt x="4934" y="14581"/>
                  </a:lnTo>
                  <a:lnTo>
                    <a:pt x="5276" y="14703"/>
                  </a:lnTo>
                  <a:lnTo>
                    <a:pt x="5642" y="14801"/>
                  </a:lnTo>
                  <a:lnTo>
                    <a:pt x="6009" y="14898"/>
                  </a:lnTo>
                  <a:lnTo>
                    <a:pt x="6375" y="14947"/>
                  </a:lnTo>
                  <a:lnTo>
                    <a:pt x="6766" y="14996"/>
                  </a:lnTo>
                  <a:lnTo>
                    <a:pt x="7132" y="15045"/>
                  </a:lnTo>
                  <a:lnTo>
                    <a:pt x="7914" y="15045"/>
                  </a:lnTo>
                  <a:lnTo>
                    <a:pt x="8280" y="14996"/>
                  </a:lnTo>
                  <a:lnTo>
                    <a:pt x="8671" y="14947"/>
                  </a:lnTo>
                  <a:lnTo>
                    <a:pt x="9037" y="14898"/>
                  </a:lnTo>
                  <a:lnTo>
                    <a:pt x="9403" y="14801"/>
                  </a:lnTo>
                  <a:lnTo>
                    <a:pt x="9770" y="14703"/>
                  </a:lnTo>
                  <a:lnTo>
                    <a:pt x="10112" y="14581"/>
                  </a:lnTo>
                  <a:lnTo>
                    <a:pt x="10454" y="14459"/>
                  </a:lnTo>
                  <a:lnTo>
                    <a:pt x="10795" y="14312"/>
                  </a:lnTo>
                  <a:lnTo>
                    <a:pt x="11113" y="14141"/>
                  </a:lnTo>
                  <a:lnTo>
                    <a:pt x="11430" y="13946"/>
                  </a:lnTo>
                  <a:lnTo>
                    <a:pt x="11724" y="13750"/>
                  </a:lnTo>
                  <a:lnTo>
                    <a:pt x="12017" y="13555"/>
                  </a:lnTo>
                  <a:lnTo>
                    <a:pt x="12310" y="13335"/>
                  </a:lnTo>
                  <a:lnTo>
                    <a:pt x="12578" y="13091"/>
                  </a:lnTo>
                  <a:lnTo>
                    <a:pt x="12847" y="12847"/>
                  </a:lnTo>
                  <a:lnTo>
                    <a:pt x="13091" y="12578"/>
                  </a:lnTo>
                  <a:lnTo>
                    <a:pt x="13335" y="12309"/>
                  </a:lnTo>
                  <a:lnTo>
                    <a:pt x="13555" y="12016"/>
                  </a:lnTo>
                  <a:lnTo>
                    <a:pt x="13751" y="11723"/>
                  </a:lnTo>
                  <a:lnTo>
                    <a:pt x="13946" y="11430"/>
                  </a:lnTo>
                  <a:lnTo>
                    <a:pt x="14141" y="11113"/>
                  </a:lnTo>
                  <a:lnTo>
                    <a:pt x="14312" y="10795"/>
                  </a:lnTo>
                  <a:lnTo>
                    <a:pt x="14459" y="10453"/>
                  </a:lnTo>
                  <a:lnTo>
                    <a:pt x="14581" y="10111"/>
                  </a:lnTo>
                  <a:lnTo>
                    <a:pt x="14703" y="9769"/>
                  </a:lnTo>
                  <a:lnTo>
                    <a:pt x="14801" y="9403"/>
                  </a:lnTo>
                  <a:lnTo>
                    <a:pt x="14899" y="9037"/>
                  </a:lnTo>
                  <a:lnTo>
                    <a:pt x="14947" y="8670"/>
                  </a:lnTo>
                  <a:lnTo>
                    <a:pt x="14996" y="8280"/>
                  </a:lnTo>
                  <a:lnTo>
                    <a:pt x="15045" y="7913"/>
                  </a:lnTo>
                  <a:lnTo>
                    <a:pt x="15045" y="7522"/>
                  </a:lnTo>
                  <a:lnTo>
                    <a:pt x="7523" y="7522"/>
                  </a:lnTo>
                  <a:lnTo>
                    <a:pt x="752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4"/>
            <p:cNvSpPr/>
            <p:nvPr/>
          </p:nvSpPr>
          <p:spPr>
            <a:xfrm>
              <a:off x="3494925" y="3760525"/>
              <a:ext cx="188075" cy="97100"/>
            </a:xfrm>
            <a:custGeom>
              <a:avLst/>
              <a:gdLst/>
              <a:ahLst/>
              <a:cxnLst/>
              <a:rect l="l" t="t" r="r" b="b"/>
              <a:pathLst>
                <a:path w="7523" h="3884" extrusionOk="0">
                  <a:moveTo>
                    <a:pt x="2491" y="2956"/>
                  </a:moveTo>
                  <a:lnTo>
                    <a:pt x="2491" y="3396"/>
                  </a:lnTo>
                  <a:lnTo>
                    <a:pt x="1759" y="3396"/>
                  </a:lnTo>
                  <a:lnTo>
                    <a:pt x="2491" y="2956"/>
                  </a:lnTo>
                  <a:close/>
                  <a:moveTo>
                    <a:pt x="3346" y="2443"/>
                  </a:moveTo>
                  <a:lnTo>
                    <a:pt x="3346" y="3396"/>
                  </a:lnTo>
                  <a:lnTo>
                    <a:pt x="2980" y="3396"/>
                  </a:lnTo>
                  <a:lnTo>
                    <a:pt x="2980" y="2663"/>
                  </a:lnTo>
                  <a:lnTo>
                    <a:pt x="3346" y="2443"/>
                  </a:lnTo>
                  <a:close/>
                  <a:moveTo>
                    <a:pt x="4201" y="1930"/>
                  </a:moveTo>
                  <a:lnTo>
                    <a:pt x="4201" y="3396"/>
                  </a:lnTo>
                  <a:lnTo>
                    <a:pt x="3835" y="3396"/>
                  </a:lnTo>
                  <a:lnTo>
                    <a:pt x="3835" y="2150"/>
                  </a:lnTo>
                  <a:lnTo>
                    <a:pt x="3835" y="2150"/>
                  </a:lnTo>
                  <a:lnTo>
                    <a:pt x="4201" y="1930"/>
                  </a:lnTo>
                  <a:close/>
                  <a:moveTo>
                    <a:pt x="5056" y="1393"/>
                  </a:moveTo>
                  <a:lnTo>
                    <a:pt x="5056" y="3396"/>
                  </a:lnTo>
                  <a:lnTo>
                    <a:pt x="4689" y="3396"/>
                  </a:lnTo>
                  <a:lnTo>
                    <a:pt x="4689" y="1637"/>
                  </a:lnTo>
                  <a:lnTo>
                    <a:pt x="5056" y="1393"/>
                  </a:lnTo>
                  <a:close/>
                  <a:moveTo>
                    <a:pt x="5911" y="885"/>
                  </a:moveTo>
                  <a:lnTo>
                    <a:pt x="5911" y="3396"/>
                  </a:lnTo>
                  <a:lnTo>
                    <a:pt x="5544" y="3396"/>
                  </a:lnTo>
                  <a:lnTo>
                    <a:pt x="5544" y="1100"/>
                  </a:lnTo>
                  <a:lnTo>
                    <a:pt x="5911" y="885"/>
                  </a:lnTo>
                  <a:close/>
                  <a:moveTo>
                    <a:pt x="6399" y="978"/>
                  </a:moveTo>
                  <a:lnTo>
                    <a:pt x="6619" y="1539"/>
                  </a:lnTo>
                  <a:lnTo>
                    <a:pt x="6790" y="2031"/>
                  </a:lnTo>
                  <a:lnTo>
                    <a:pt x="6790" y="3396"/>
                  </a:lnTo>
                  <a:lnTo>
                    <a:pt x="6399" y="3396"/>
                  </a:lnTo>
                  <a:lnTo>
                    <a:pt x="6399" y="978"/>
                  </a:lnTo>
                  <a:close/>
                  <a:moveTo>
                    <a:pt x="6448" y="1"/>
                  </a:moveTo>
                  <a:lnTo>
                    <a:pt x="0" y="3884"/>
                  </a:lnTo>
                  <a:lnTo>
                    <a:pt x="7523" y="3884"/>
                  </a:lnTo>
                  <a:lnTo>
                    <a:pt x="7498" y="3347"/>
                  </a:lnTo>
                  <a:lnTo>
                    <a:pt x="7449" y="2834"/>
                  </a:lnTo>
                  <a:lnTo>
                    <a:pt x="7352" y="2321"/>
                  </a:lnTo>
                  <a:lnTo>
                    <a:pt x="7229" y="1832"/>
                  </a:lnTo>
                  <a:lnTo>
                    <a:pt x="7083" y="1344"/>
                  </a:lnTo>
                  <a:lnTo>
                    <a:pt x="6912" y="880"/>
                  </a:lnTo>
                  <a:lnTo>
                    <a:pt x="6692" y="440"/>
                  </a:lnTo>
                  <a:lnTo>
                    <a:pt x="644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4"/>
            <p:cNvSpPr/>
            <p:nvPr/>
          </p:nvSpPr>
          <p:spPr>
            <a:xfrm>
              <a:off x="3494925" y="3652450"/>
              <a:ext cx="161200" cy="188100"/>
            </a:xfrm>
            <a:custGeom>
              <a:avLst/>
              <a:gdLst/>
              <a:ahLst/>
              <a:cxnLst/>
              <a:rect l="l" t="t" r="r" b="b"/>
              <a:pathLst>
                <a:path w="6448" h="7524" extrusionOk="0">
                  <a:moveTo>
                    <a:pt x="489" y="514"/>
                  </a:moveTo>
                  <a:lnTo>
                    <a:pt x="879" y="538"/>
                  </a:lnTo>
                  <a:lnTo>
                    <a:pt x="1270" y="611"/>
                  </a:lnTo>
                  <a:lnTo>
                    <a:pt x="1661" y="685"/>
                  </a:lnTo>
                  <a:lnTo>
                    <a:pt x="2052" y="782"/>
                  </a:lnTo>
                  <a:lnTo>
                    <a:pt x="2418" y="929"/>
                  </a:lnTo>
                  <a:lnTo>
                    <a:pt x="2809" y="1075"/>
                  </a:lnTo>
                  <a:lnTo>
                    <a:pt x="3151" y="1246"/>
                  </a:lnTo>
                  <a:lnTo>
                    <a:pt x="3517" y="1417"/>
                  </a:lnTo>
                  <a:lnTo>
                    <a:pt x="3835" y="1637"/>
                  </a:lnTo>
                  <a:lnTo>
                    <a:pt x="4152" y="1857"/>
                  </a:lnTo>
                  <a:lnTo>
                    <a:pt x="4445" y="2077"/>
                  </a:lnTo>
                  <a:lnTo>
                    <a:pt x="4738" y="2321"/>
                  </a:lnTo>
                  <a:lnTo>
                    <a:pt x="5031" y="2590"/>
                  </a:lnTo>
                  <a:lnTo>
                    <a:pt x="5276" y="2883"/>
                  </a:lnTo>
                  <a:lnTo>
                    <a:pt x="5520" y="3176"/>
                  </a:lnTo>
                  <a:lnTo>
                    <a:pt x="5764" y="3493"/>
                  </a:lnTo>
                  <a:lnTo>
                    <a:pt x="489" y="6668"/>
                  </a:lnTo>
                  <a:lnTo>
                    <a:pt x="489" y="514"/>
                  </a:lnTo>
                  <a:close/>
                  <a:moveTo>
                    <a:pt x="0" y="1"/>
                  </a:moveTo>
                  <a:lnTo>
                    <a:pt x="0" y="7523"/>
                  </a:lnTo>
                  <a:lnTo>
                    <a:pt x="6448" y="3640"/>
                  </a:lnTo>
                  <a:lnTo>
                    <a:pt x="6179" y="3249"/>
                  </a:lnTo>
                  <a:lnTo>
                    <a:pt x="5911" y="2858"/>
                  </a:lnTo>
                  <a:lnTo>
                    <a:pt x="5593" y="2492"/>
                  </a:lnTo>
                  <a:lnTo>
                    <a:pt x="5276" y="2150"/>
                  </a:lnTo>
                  <a:lnTo>
                    <a:pt x="4909" y="1833"/>
                  </a:lnTo>
                  <a:lnTo>
                    <a:pt x="4543" y="1540"/>
                  </a:lnTo>
                  <a:lnTo>
                    <a:pt x="4152" y="1246"/>
                  </a:lnTo>
                  <a:lnTo>
                    <a:pt x="3761" y="1002"/>
                  </a:lnTo>
                  <a:lnTo>
                    <a:pt x="3322" y="782"/>
                  </a:lnTo>
                  <a:lnTo>
                    <a:pt x="2882" y="587"/>
                  </a:lnTo>
                  <a:lnTo>
                    <a:pt x="2443" y="416"/>
                  </a:lnTo>
                  <a:lnTo>
                    <a:pt x="1978" y="270"/>
                  </a:lnTo>
                  <a:lnTo>
                    <a:pt x="1490" y="147"/>
                  </a:lnTo>
                  <a:lnTo>
                    <a:pt x="1002" y="74"/>
                  </a:lnTo>
                  <a:lnTo>
                    <a:pt x="513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2" name="Google Shape;192;p24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8" name="Google Shape;147;p20">
            <a:extLst>
              <a:ext uri="{FF2B5EF4-FFF2-40B4-BE49-F238E27FC236}">
                <a16:creationId xmlns:a16="http://schemas.microsoft.com/office/drawing/2014/main" id="{E4D3C7AA-7A2A-46CC-A3B7-69E985DC83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9150" y="678154"/>
            <a:ext cx="5092200" cy="59266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THỰC NGHIỆM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814374-68E9-E3DD-807D-9DC5D05892D7}"/>
              </a:ext>
            </a:extLst>
          </p:cNvPr>
          <p:cNvSpPr txBox="1"/>
          <p:nvPr/>
        </p:nvSpPr>
        <p:spPr>
          <a:xfrm>
            <a:off x="1074248" y="1659657"/>
            <a:ext cx="2500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B. Performance metrics:</a:t>
            </a:r>
          </a:p>
          <a:p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D70A1D-34E8-843F-1A0F-9CFAE1383ACD}"/>
              </a:ext>
            </a:extLst>
          </p:cNvPr>
          <p:cNvSpPr txBox="1"/>
          <p:nvPr/>
        </p:nvSpPr>
        <p:spPr>
          <a:xfrm>
            <a:off x="4863466" y="1952044"/>
            <a:ext cx="25002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Accuracy.</a:t>
            </a:r>
          </a:p>
          <a:p>
            <a:r>
              <a:rPr lang="en-US" sz="1600" dirty="0"/>
              <a:t>Precision.</a:t>
            </a:r>
          </a:p>
          <a:p>
            <a:r>
              <a:rPr lang="en-US" sz="1600" dirty="0"/>
              <a:t>Recall.</a:t>
            </a:r>
          </a:p>
          <a:p>
            <a:r>
              <a:rPr lang="en-US" sz="1600" dirty="0"/>
              <a:t>F1.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799DA1-5812-7892-C16F-528C446B30F9}"/>
              </a:ext>
            </a:extLst>
          </p:cNvPr>
          <p:cNvSpPr txBox="1"/>
          <p:nvPr/>
        </p:nvSpPr>
        <p:spPr>
          <a:xfrm>
            <a:off x="1074248" y="1952044"/>
            <a:ext cx="25002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True Positive.</a:t>
            </a:r>
          </a:p>
          <a:p>
            <a:r>
              <a:rPr lang="en-US" sz="1600" dirty="0"/>
              <a:t>False Positive.</a:t>
            </a:r>
          </a:p>
          <a:p>
            <a:r>
              <a:rPr lang="en-US" sz="1600" dirty="0"/>
              <a:t>True Negative.</a:t>
            </a:r>
          </a:p>
          <a:p>
            <a:r>
              <a:rPr lang="en-US" sz="1600" dirty="0"/>
              <a:t>False Negative.</a:t>
            </a:r>
          </a:p>
          <a:p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9325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p24"/>
          <p:cNvGrpSpPr/>
          <p:nvPr/>
        </p:nvGrpSpPr>
        <p:grpSpPr>
          <a:xfrm>
            <a:off x="7511274" y="711512"/>
            <a:ext cx="908156" cy="948145"/>
            <a:chOff x="3294650" y="3652450"/>
            <a:chExt cx="388350" cy="405450"/>
          </a:xfrm>
        </p:grpSpPr>
        <p:sp>
          <p:nvSpPr>
            <p:cNvPr id="189" name="Google Shape;189;p24"/>
            <p:cNvSpPr/>
            <p:nvPr/>
          </p:nvSpPr>
          <p:spPr>
            <a:xfrm>
              <a:off x="3294650" y="3681775"/>
              <a:ext cx="376150" cy="376125"/>
            </a:xfrm>
            <a:custGeom>
              <a:avLst/>
              <a:gdLst/>
              <a:ahLst/>
              <a:cxnLst/>
              <a:rect l="l" t="t" r="r" b="b"/>
              <a:pathLst>
                <a:path w="15046" h="15045" extrusionOk="0">
                  <a:moveTo>
                    <a:pt x="7132" y="0"/>
                  </a:moveTo>
                  <a:lnTo>
                    <a:pt x="6766" y="49"/>
                  </a:lnTo>
                  <a:lnTo>
                    <a:pt x="6375" y="98"/>
                  </a:lnTo>
                  <a:lnTo>
                    <a:pt x="6009" y="147"/>
                  </a:lnTo>
                  <a:lnTo>
                    <a:pt x="5642" y="244"/>
                  </a:lnTo>
                  <a:lnTo>
                    <a:pt x="5276" y="342"/>
                  </a:lnTo>
                  <a:lnTo>
                    <a:pt x="4934" y="464"/>
                  </a:lnTo>
                  <a:lnTo>
                    <a:pt x="4592" y="586"/>
                  </a:lnTo>
                  <a:lnTo>
                    <a:pt x="4250" y="733"/>
                  </a:lnTo>
                  <a:lnTo>
                    <a:pt x="3933" y="904"/>
                  </a:lnTo>
                  <a:lnTo>
                    <a:pt x="3615" y="1099"/>
                  </a:lnTo>
                  <a:lnTo>
                    <a:pt x="3322" y="1295"/>
                  </a:lnTo>
                  <a:lnTo>
                    <a:pt x="3029" y="1490"/>
                  </a:lnTo>
                  <a:lnTo>
                    <a:pt x="2736" y="1710"/>
                  </a:lnTo>
                  <a:lnTo>
                    <a:pt x="2467" y="1954"/>
                  </a:lnTo>
                  <a:lnTo>
                    <a:pt x="2199" y="2198"/>
                  </a:lnTo>
                  <a:lnTo>
                    <a:pt x="1954" y="2467"/>
                  </a:lnTo>
                  <a:lnTo>
                    <a:pt x="1710" y="2736"/>
                  </a:lnTo>
                  <a:lnTo>
                    <a:pt x="1490" y="3029"/>
                  </a:lnTo>
                  <a:lnTo>
                    <a:pt x="1295" y="3322"/>
                  </a:lnTo>
                  <a:lnTo>
                    <a:pt x="1100" y="3615"/>
                  </a:lnTo>
                  <a:lnTo>
                    <a:pt x="904" y="3932"/>
                  </a:lnTo>
                  <a:lnTo>
                    <a:pt x="733" y="4250"/>
                  </a:lnTo>
                  <a:lnTo>
                    <a:pt x="587" y="4592"/>
                  </a:lnTo>
                  <a:lnTo>
                    <a:pt x="465" y="4934"/>
                  </a:lnTo>
                  <a:lnTo>
                    <a:pt x="342" y="5276"/>
                  </a:lnTo>
                  <a:lnTo>
                    <a:pt x="245" y="5642"/>
                  </a:lnTo>
                  <a:lnTo>
                    <a:pt x="147" y="6008"/>
                  </a:lnTo>
                  <a:lnTo>
                    <a:pt x="98" y="6375"/>
                  </a:lnTo>
                  <a:lnTo>
                    <a:pt x="49" y="6765"/>
                  </a:lnTo>
                  <a:lnTo>
                    <a:pt x="0" y="7132"/>
                  </a:lnTo>
                  <a:lnTo>
                    <a:pt x="0" y="7522"/>
                  </a:lnTo>
                  <a:lnTo>
                    <a:pt x="0" y="7913"/>
                  </a:lnTo>
                  <a:lnTo>
                    <a:pt x="49" y="8280"/>
                  </a:lnTo>
                  <a:lnTo>
                    <a:pt x="98" y="8670"/>
                  </a:lnTo>
                  <a:lnTo>
                    <a:pt x="147" y="9037"/>
                  </a:lnTo>
                  <a:lnTo>
                    <a:pt x="245" y="9403"/>
                  </a:lnTo>
                  <a:lnTo>
                    <a:pt x="342" y="9769"/>
                  </a:lnTo>
                  <a:lnTo>
                    <a:pt x="465" y="10111"/>
                  </a:lnTo>
                  <a:lnTo>
                    <a:pt x="587" y="10453"/>
                  </a:lnTo>
                  <a:lnTo>
                    <a:pt x="733" y="10795"/>
                  </a:lnTo>
                  <a:lnTo>
                    <a:pt x="904" y="11113"/>
                  </a:lnTo>
                  <a:lnTo>
                    <a:pt x="1100" y="11430"/>
                  </a:lnTo>
                  <a:lnTo>
                    <a:pt x="1295" y="11723"/>
                  </a:lnTo>
                  <a:lnTo>
                    <a:pt x="1490" y="12016"/>
                  </a:lnTo>
                  <a:lnTo>
                    <a:pt x="1710" y="12309"/>
                  </a:lnTo>
                  <a:lnTo>
                    <a:pt x="1954" y="12578"/>
                  </a:lnTo>
                  <a:lnTo>
                    <a:pt x="2199" y="12847"/>
                  </a:lnTo>
                  <a:lnTo>
                    <a:pt x="2467" y="13091"/>
                  </a:lnTo>
                  <a:lnTo>
                    <a:pt x="2736" y="13335"/>
                  </a:lnTo>
                  <a:lnTo>
                    <a:pt x="3029" y="13555"/>
                  </a:lnTo>
                  <a:lnTo>
                    <a:pt x="3322" y="13750"/>
                  </a:lnTo>
                  <a:lnTo>
                    <a:pt x="3615" y="13946"/>
                  </a:lnTo>
                  <a:lnTo>
                    <a:pt x="3933" y="14141"/>
                  </a:lnTo>
                  <a:lnTo>
                    <a:pt x="4250" y="14312"/>
                  </a:lnTo>
                  <a:lnTo>
                    <a:pt x="4592" y="14459"/>
                  </a:lnTo>
                  <a:lnTo>
                    <a:pt x="4934" y="14581"/>
                  </a:lnTo>
                  <a:lnTo>
                    <a:pt x="5276" y="14703"/>
                  </a:lnTo>
                  <a:lnTo>
                    <a:pt x="5642" y="14801"/>
                  </a:lnTo>
                  <a:lnTo>
                    <a:pt x="6009" y="14898"/>
                  </a:lnTo>
                  <a:lnTo>
                    <a:pt x="6375" y="14947"/>
                  </a:lnTo>
                  <a:lnTo>
                    <a:pt x="6766" y="14996"/>
                  </a:lnTo>
                  <a:lnTo>
                    <a:pt x="7132" y="15045"/>
                  </a:lnTo>
                  <a:lnTo>
                    <a:pt x="7914" y="15045"/>
                  </a:lnTo>
                  <a:lnTo>
                    <a:pt x="8280" y="14996"/>
                  </a:lnTo>
                  <a:lnTo>
                    <a:pt x="8671" y="14947"/>
                  </a:lnTo>
                  <a:lnTo>
                    <a:pt x="9037" y="14898"/>
                  </a:lnTo>
                  <a:lnTo>
                    <a:pt x="9403" y="14801"/>
                  </a:lnTo>
                  <a:lnTo>
                    <a:pt x="9770" y="14703"/>
                  </a:lnTo>
                  <a:lnTo>
                    <a:pt x="10112" y="14581"/>
                  </a:lnTo>
                  <a:lnTo>
                    <a:pt x="10454" y="14459"/>
                  </a:lnTo>
                  <a:lnTo>
                    <a:pt x="10795" y="14312"/>
                  </a:lnTo>
                  <a:lnTo>
                    <a:pt x="11113" y="14141"/>
                  </a:lnTo>
                  <a:lnTo>
                    <a:pt x="11430" y="13946"/>
                  </a:lnTo>
                  <a:lnTo>
                    <a:pt x="11724" y="13750"/>
                  </a:lnTo>
                  <a:lnTo>
                    <a:pt x="12017" y="13555"/>
                  </a:lnTo>
                  <a:lnTo>
                    <a:pt x="12310" y="13335"/>
                  </a:lnTo>
                  <a:lnTo>
                    <a:pt x="12578" y="13091"/>
                  </a:lnTo>
                  <a:lnTo>
                    <a:pt x="12847" y="12847"/>
                  </a:lnTo>
                  <a:lnTo>
                    <a:pt x="13091" y="12578"/>
                  </a:lnTo>
                  <a:lnTo>
                    <a:pt x="13335" y="12309"/>
                  </a:lnTo>
                  <a:lnTo>
                    <a:pt x="13555" y="12016"/>
                  </a:lnTo>
                  <a:lnTo>
                    <a:pt x="13751" y="11723"/>
                  </a:lnTo>
                  <a:lnTo>
                    <a:pt x="13946" y="11430"/>
                  </a:lnTo>
                  <a:lnTo>
                    <a:pt x="14141" y="11113"/>
                  </a:lnTo>
                  <a:lnTo>
                    <a:pt x="14312" y="10795"/>
                  </a:lnTo>
                  <a:lnTo>
                    <a:pt x="14459" y="10453"/>
                  </a:lnTo>
                  <a:lnTo>
                    <a:pt x="14581" y="10111"/>
                  </a:lnTo>
                  <a:lnTo>
                    <a:pt x="14703" y="9769"/>
                  </a:lnTo>
                  <a:lnTo>
                    <a:pt x="14801" y="9403"/>
                  </a:lnTo>
                  <a:lnTo>
                    <a:pt x="14899" y="9037"/>
                  </a:lnTo>
                  <a:lnTo>
                    <a:pt x="14947" y="8670"/>
                  </a:lnTo>
                  <a:lnTo>
                    <a:pt x="14996" y="8280"/>
                  </a:lnTo>
                  <a:lnTo>
                    <a:pt x="15045" y="7913"/>
                  </a:lnTo>
                  <a:lnTo>
                    <a:pt x="15045" y="7522"/>
                  </a:lnTo>
                  <a:lnTo>
                    <a:pt x="7523" y="7522"/>
                  </a:lnTo>
                  <a:lnTo>
                    <a:pt x="752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4"/>
            <p:cNvSpPr/>
            <p:nvPr/>
          </p:nvSpPr>
          <p:spPr>
            <a:xfrm>
              <a:off x="3494925" y="3760525"/>
              <a:ext cx="188075" cy="97100"/>
            </a:xfrm>
            <a:custGeom>
              <a:avLst/>
              <a:gdLst/>
              <a:ahLst/>
              <a:cxnLst/>
              <a:rect l="l" t="t" r="r" b="b"/>
              <a:pathLst>
                <a:path w="7523" h="3884" extrusionOk="0">
                  <a:moveTo>
                    <a:pt x="2491" y="2956"/>
                  </a:moveTo>
                  <a:lnTo>
                    <a:pt x="2491" y="3396"/>
                  </a:lnTo>
                  <a:lnTo>
                    <a:pt x="1759" y="3396"/>
                  </a:lnTo>
                  <a:lnTo>
                    <a:pt x="2491" y="2956"/>
                  </a:lnTo>
                  <a:close/>
                  <a:moveTo>
                    <a:pt x="3346" y="2443"/>
                  </a:moveTo>
                  <a:lnTo>
                    <a:pt x="3346" y="3396"/>
                  </a:lnTo>
                  <a:lnTo>
                    <a:pt x="2980" y="3396"/>
                  </a:lnTo>
                  <a:lnTo>
                    <a:pt x="2980" y="2663"/>
                  </a:lnTo>
                  <a:lnTo>
                    <a:pt x="3346" y="2443"/>
                  </a:lnTo>
                  <a:close/>
                  <a:moveTo>
                    <a:pt x="4201" y="1930"/>
                  </a:moveTo>
                  <a:lnTo>
                    <a:pt x="4201" y="3396"/>
                  </a:lnTo>
                  <a:lnTo>
                    <a:pt x="3835" y="3396"/>
                  </a:lnTo>
                  <a:lnTo>
                    <a:pt x="3835" y="2150"/>
                  </a:lnTo>
                  <a:lnTo>
                    <a:pt x="3835" y="2150"/>
                  </a:lnTo>
                  <a:lnTo>
                    <a:pt x="4201" y="1930"/>
                  </a:lnTo>
                  <a:close/>
                  <a:moveTo>
                    <a:pt x="5056" y="1393"/>
                  </a:moveTo>
                  <a:lnTo>
                    <a:pt x="5056" y="3396"/>
                  </a:lnTo>
                  <a:lnTo>
                    <a:pt x="4689" y="3396"/>
                  </a:lnTo>
                  <a:lnTo>
                    <a:pt x="4689" y="1637"/>
                  </a:lnTo>
                  <a:lnTo>
                    <a:pt x="5056" y="1393"/>
                  </a:lnTo>
                  <a:close/>
                  <a:moveTo>
                    <a:pt x="5911" y="885"/>
                  </a:moveTo>
                  <a:lnTo>
                    <a:pt x="5911" y="3396"/>
                  </a:lnTo>
                  <a:lnTo>
                    <a:pt x="5544" y="3396"/>
                  </a:lnTo>
                  <a:lnTo>
                    <a:pt x="5544" y="1100"/>
                  </a:lnTo>
                  <a:lnTo>
                    <a:pt x="5911" y="885"/>
                  </a:lnTo>
                  <a:close/>
                  <a:moveTo>
                    <a:pt x="6399" y="978"/>
                  </a:moveTo>
                  <a:lnTo>
                    <a:pt x="6619" y="1539"/>
                  </a:lnTo>
                  <a:lnTo>
                    <a:pt x="6790" y="2031"/>
                  </a:lnTo>
                  <a:lnTo>
                    <a:pt x="6790" y="3396"/>
                  </a:lnTo>
                  <a:lnTo>
                    <a:pt x="6399" y="3396"/>
                  </a:lnTo>
                  <a:lnTo>
                    <a:pt x="6399" y="978"/>
                  </a:lnTo>
                  <a:close/>
                  <a:moveTo>
                    <a:pt x="6448" y="1"/>
                  </a:moveTo>
                  <a:lnTo>
                    <a:pt x="0" y="3884"/>
                  </a:lnTo>
                  <a:lnTo>
                    <a:pt x="7523" y="3884"/>
                  </a:lnTo>
                  <a:lnTo>
                    <a:pt x="7498" y="3347"/>
                  </a:lnTo>
                  <a:lnTo>
                    <a:pt x="7449" y="2834"/>
                  </a:lnTo>
                  <a:lnTo>
                    <a:pt x="7352" y="2321"/>
                  </a:lnTo>
                  <a:lnTo>
                    <a:pt x="7229" y="1832"/>
                  </a:lnTo>
                  <a:lnTo>
                    <a:pt x="7083" y="1344"/>
                  </a:lnTo>
                  <a:lnTo>
                    <a:pt x="6912" y="880"/>
                  </a:lnTo>
                  <a:lnTo>
                    <a:pt x="6692" y="440"/>
                  </a:lnTo>
                  <a:lnTo>
                    <a:pt x="644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4"/>
            <p:cNvSpPr/>
            <p:nvPr/>
          </p:nvSpPr>
          <p:spPr>
            <a:xfrm>
              <a:off x="3494925" y="3652450"/>
              <a:ext cx="161200" cy="188100"/>
            </a:xfrm>
            <a:custGeom>
              <a:avLst/>
              <a:gdLst/>
              <a:ahLst/>
              <a:cxnLst/>
              <a:rect l="l" t="t" r="r" b="b"/>
              <a:pathLst>
                <a:path w="6448" h="7524" extrusionOk="0">
                  <a:moveTo>
                    <a:pt x="489" y="514"/>
                  </a:moveTo>
                  <a:lnTo>
                    <a:pt x="879" y="538"/>
                  </a:lnTo>
                  <a:lnTo>
                    <a:pt x="1270" y="611"/>
                  </a:lnTo>
                  <a:lnTo>
                    <a:pt x="1661" y="685"/>
                  </a:lnTo>
                  <a:lnTo>
                    <a:pt x="2052" y="782"/>
                  </a:lnTo>
                  <a:lnTo>
                    <a:pt x="2418" y="929"/>
                  </a:lnTo>
                  <a:lnTo>
                    <a:pt x="2809" y="1075"/>
                  </a:lnTo>
                  <a:lnTo>
                    <a:pt x="3151" y="1246"/>
                  </a:lnTo>
                  <a:lnTo>
                    <a:pt x="3517" y="1417"/>
                  </a:lnTo>
                  <a:lnTo>
                    <a:pt x="3835" y="1637"/>
                  </a:lnTo>
                  <a:lnTo>
                    <a:pt x="4152" y="1857"/>
                  </a:lnTo>
                  <a:lnTo>
                    <a:pt x="4445" y="2077"/>
                  </a:lnTo>
                  <a:lnTo>
                    <a:pt x="4738" y="2321"/>
                  </a:lnTo>
                  <a:lnTo>
                    <a:pt x="5031" y="2590"/>
                  </a:lnTo>
                  <a:lnTo>
                    <a:pt x="5276" y="2883"/>
                  </a:lnTo>
                  <a:lnTo>
                    <a:pt x="5520" y="3176"/>
                  </a:lnTo>
                  <a:lnTo>
                    <a:pt x="5764" y="3493"/>
                  </a:lnTo>
                  <a:lnTo>
                    <a:pt x="489" y="6668"/>
                  </a:lnTo>
                  <a:lnTo>
                    <a:pt x="489" y="514"/>
                  </a:lnTo>
                  <a:close/>
                  <a:moveTo>
                    <a:pt x="0" y="1"/>
                  </a:moveTo>
                  <a:lnTo>
                    <a:pt x="0" y="7523"/>
                  </a:lnTo>
                  <a:lnTo>
                    <a:pt x="6448" y="3640"/>
                  </a:lnTo>
                  <a:lnTo>
                    <a:pt x="6179" y="3249"/>
                  </a:lnTo>
                  <a:lnTo>
                    <a:pt x="5911" y="2858"/>
                  </a:lnTo>
                  <a:lnTo>
                    <a:pt x="5593" y="2492"/>
                  </a:lnTo>
                  <a:lnTo>
                    <a:pt x="5276" y="2150"/>
                  </a:lnTo>
                  <a:lnTo>
                    <a:pt x="4909" y="1833"/>
                  </a:lnTo>
                  <a:lnTo>
                    <a:pt x="4543" y="1540"/>
                  </a:lnTo>
                  <a:lnTo>
                    <a:pt x="4152" y="1246"/>
                  </a:lnTo>
                  <a:lnTo>
                    <a:pt x="3761" y="1002"/>
                  </a:lnTo>
                  <a:lnTo>
                    <a:pt x="3322" y="782"/>
                  </a:lnTo>
                  <a:lnTo>
                    <a:pt x="2882" y="587"/>
                  </a:lnTo>
                  <a:lnTo>
                    <a:pt x="2443" y="416"/>
                  </a:lnTo>
                  <a:lnTo>
                    <a:pt x="1978" y="270"/>
                  </a:lnTo>
                  <a:lnTo>
                    <a:pt x="1490" y="147"/>
                  </a:lnTo>
                  <a:lnTo>
                    <a:pt x="1002" y="74"/>
                  </a:lnTo>
                  <a:lnTo>
                    <a:pt x="513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2" name="Google Shape;192;p24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8" name="Google Shape;147;p20">
            <a:extLst>
              <a:ext uri="{FF2B5EF4-FFF2-40B4-BE49-F238E27FC236}">
                <a16:creationId xmlns:a16="http://schemas.microsoft.com/office/drawing/2014/main" id="{E4D3C7AA-7A2A-46CC-A3B7-69E985DC83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9150" y="678154"/>
            <a:ext cx="5092200" cy="59266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THỰC NGHIỆM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CE427B-EA75-3900-5E68-60E2DC32A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768" y="1946856"/>
            <a:ext cx="7736464" cy="141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2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p24"/>
          <p:cNvGrpSpPr/>
          <p:nvPr/>
        </p:nvGrpSpPr>
        <p:grpSpPr>
          <a:xfrm>
            <a:off x="7511274" y="711512"/>
            <a:ext cx="908156" cy="948145"/>
            <a:chOff x="3294650" y="3652450"/>
            <a:chExt cx="388350" cy="405450"/>
          </a:xfrm>
        </p:grpSpPr>
        <p:sp>
          <p:nvSpPr>
            <p:cNvPr id="189" name="Google Shape;189;p24"/>
            <p:cNvSpPr/>
            <p:nvPr/>
          </p:nvSpPr>
          <p:spPr>
            <a:xfrm>
              <a:off x="3294650" y="3681775"/>
              <a:ext cx="376150" cy="376125"/>
            </a:xfrm>
            <a:custGeom>
              <a:avLst/>
              <a:gdLst/>
              <a:ahLst/>
              <a:cxnLst/>
              <a:rect l="l" t="t" r="r" b="b"/>
              <a:pathLst>
                <a:path w="15046" h="15045" extrusionOk="0">
                  <a:moveTo>
                    <a:pt x="7132" y="0"/>
                  </a:moveTo>
                  <a:lnTo>
                    <a:pt x="6766" y="49"/>
                  </a:lnTo>
                  <a:lnTo>
                    <a:pt x="6375" y="98"/>
                  </a:lnTo>
                  <a:lnTo>
                    <a:pt x="6009" y="147"/>
                  </a:lnTo>
                  <a:lnTo>
                    <a:pt x="5642" y="244"/>
                  </a:lnTo>
                  <a:lnTo>
                    <a:pt x="5276" y="342"/>
                  </a:lnTo>
                  <a:lnTo>
                    <a:pt x="4934" y="464"/>
                  </a:lnTo>
                  <a:lnTo>
                    <a:pt x="4592" y="586"/>
                  </a:lnTo>
                  <a:lnTo>
                    <a:pt x="4250" y="733"/>
                  </a:lnTo>
                  <a:lnTo>
                    <a:pt x="3933" y="904"/>
                  </a:lnTo>
                  <a:lnTo>
                    <a:pt x="3615" y="1099"/>
                  </a:lnTo>
                  <a:lnTo>
                    <a:pt x="3322" y="1295"/>
                  </a:lnTo>
                  <a:lnTo>
                    <a:pt x="3029" y="1490"/>
                  </a:lnTo>
                  <a:lnTo>
                    <a:pt x="2736" y="1710"/>
                  </a:lnTo>
                  <a:lnTo>
                    <a:pt x="2467" y="1954"/>
                  </a:lnTo>
                  <a:lnTo>
                    <a:pt x="2199" y="2198"/>
                  </a:lnTo>
                  <a:lnTo>
                    <a:pt x="1954" y="2467"/>
                  </a:lnTo>
                  <a:lnTo>
                    <a:pt x="1710" y="2736"/>
                  </a:lnTo>
                  <a:lnTo>
                    <a:pt x="1490" y="3029"/>
                  </a:lnTo>
                  <a:lnTo>
                    <a:pt x="1295" y="3322"/>
                  </a:lnTo>
                  <a:lnTo>
                    <a:pt x="1100" y="3615"/>
                  </a:lnTo>
                  <a:lnTo>
                    <a:pt x="904" y="3932"/>
                  </a:lnTo>
                  <a:lnTo>
                    <a:pt x="733" y="4250"/>
                  </a:lnTo>
                  <a:lnTo>
                    <a:pt x="587" y="4592"/>
                  </a:lnTo>
                  <a:lnTo>
                    <a:pt x="465" y="4934"/>
                  </a:lnTo>
                  <a:lnTo>
                    <a:pt x="342" y="5276"/>
                  </a:lnTo>
                  <a:lnTo>
                    <a:pt x="245" y="5642"/>
                  </a:lnTo>
                  <a:lnTo>
                    <a:pt x="147" y="6008"/>
                  </a:lnTo>
                  <a:lnTo>
                    <a:pt x="98" y="6375"/>
                  </a:lnTo>
                  <a:lnTo>
                    <a:pt x="49" y="6765"/>
                  </a:lnTo>
                  <a:lnTo>
                    <a:pt x="0" y="7132"/>
                  </a:lnTo>
                  <a:lnTo>
                    <a:pt x="0" y="7522"/>
                  </a:lnTo>
                  <a:lnTo>
                    <a:pt x="0" y="7913"/>
                  </a:lnTo>
                  <a:lnTo>
                    <a:pt x="49" y="8280"/>
                  </a:lnTo>
                  <a:lnTo>
                    <a:pt x="98" y="8670"/>
                  </a:lnTo>
                  <a:lnTo>
                    <a:pt x="147" y="9037"/>
                  </a:lnTo>
                  <a:lnTo>
                    <a:pt x="245" y="9403"/>
                  </a:lnTo>
                  <a:lnTo>
                    <a:pt x="342" y="9769"/>
                  </a:lnTo>
                  <a:lnTo>
                    <a:pt x="465" y="10111"/>
                  </a:lnTo>
                  <a:lnTo>
                    <a:pt x="587" y="10453"/>
                  </a:lnTo>
                  <a:lnTo>
                    <a:pt x="733" y="10795"/>
                  </a:lnTo>
                  <a:lnTo>
                    <a:pt x="904" y="11113"/>
                  </a:lnTo>
                  <a:lnTo>
                    <a:pt x="1100" y="11430"/>
                  </a:lnTo>
                  <a:lnTo>
                    <a:pt x="1295" y="11723"/>
                  </a:lnTo>
                  <a:lnTo>
                    <a:pt x="1490" y="12016"/>
                  </a:lnTo>
                  <a:lnTo>
                    <a:pt x="1710" y="12309"/>
                  </a:lnTo>
                  <a:lnTo>
                    <a:pt x="1954" y="12578"/>
                  </a:lnTo>
                  <a:lnTo>
                    <a:pt x="2199" y="12847"/>
                  </a:lnTo>
                  <a:lnTo>
                    <a:pt x="2467" y="13091"/>
                  </a:lnTo>
                  <a:lnTo>
                    <a:pt x="2736" y="13335"/>
                  </a:lnTo>
                  <a:lnTo>
                    <a:pt x="3029" y="13555"/>
                  </a:lnTo>
                  <a:lnTo>
                    <a:pt x="3322" y="13750"/>
                  </a:lnTo>
                  <a:lnTo>
                    <a:pt x="3615" y="13946"/>
                  </a:lnTo>
                  <a:lnTo>
                    <a:pt x="3933" y="14141"/>
                  </a:lnTo>
                  <a:lnTo>
                    <a:pt x="4250" y="14312"/>
                  </a:lnTo>
                  <a:lnTo>
                    <a:pt x="4592" y="14459"/>
                  </a:lnTo>
                  <a:lnTo>
                    <a:pt x="4934" y="14581"/>
                  </a:lnTo>
                  <a:lnTo>
                    <a:pt x="5276" y="14703"/>
                  </a:lnTo>
                  <a:lnTo>
                    <a:pt x="5642" y="14801"/>
                  </a:lnTo>
                  <a:lnTo>
                    <a:pt x="6009" y="14898"/>
                  </a:lnTo>
                  <a:lnTo>
                    <a:pt x="6375" y="14947"/>
                  </a:lnTo>
                  <a:lnTo>
                    <a:pt x="6766" y="14996"/>
                  </a:lnTo>
                  <a:lnTo>
                    <a:pt x="7132" y="15045"/>
                  </a:lnTo>
                  <a:lnTo>
                    <a:pt x="7914" y="15045"/>
                  </a:lnTo>
                  <a:lnTo>
                    <a:pt x="8280" y="14996"/>
                  </a:lnTo>
                  <a:lnTo>
                    <a:pt x="8671" y="14947"/>
                  </a:lnTo>
                  <a:lnTo>
                    <a:pt x="9037" y="14898"/>
                  </a:lnTo>
                  <a:lnTo>
                    <a:pt x="9403" y="14801"/>
                  </a:lnTo>
                  <a:lnTo>
                    <a:pt x="9770" y="14703"/>
                  </a:lnTo>
                  <a:lnTo>
                    <a:pt x="10112" y="14581"/>
                  </a:lnTo>
                  <a:lnTo>
                    <a:pt x="10454" y="14459"/>
                  </a:lnTo>
                  <a:lnTo>
                    <a:pt x="10795" y="14312"/>
                  </a:lnTo>
                  <a:lnTo>
                    <a:pt x="11113" y="14141"/>
                  </a:lnTo>
                  <a:lnTo>
                    <a:pt x="11430" y="13946"/>
                  </a:lnTo>
                  <a:lnTo>
                    <a:pt x="11724" y="13750"/>
                  </a:lnTo>
                  <a:lnTo>
                    <a:pt x="12017" y="13555"/>
                  </a:lnTo>
                  <a:lnTo>
                    <a:pt x="12310" y="13335"/>
                  </a:lnTo>
                  <a:lnTo>
                    <a:pt x="12578" y="13091"/>
                  </a:lnTo>
                  <a:lnTo>
                    <a:pt x="12847" y="12847"/>
                  </a:lnTo>
                  <a:lnTo>
                    <a:pt x="13091" y="12578"/>
                  </a:lnTo>
                  <a:lnTo>
                    <a:pt x="13335" y="12309"/>
                  </a:lnTo>
                  <a:lnTo>
                    <a:pt x="13555" y="12016"/>
                  </a:lnTo>
                  <a:lnTo>
                    <a:pt x="13751" y="11723"/>
                  </a:lnTo>
                  <a:lnTo>
                    <a:pt x="13946" y="11430"/>
                  </a:lnTo>
                  <a:lnTo>
                    <a:pt x="14141" y="11113"/>
                  </a:lnTo>
                  <a:lnTo>
                    <a:pt x="14312" y="10795"/>
                  </a:lnTo>
                  <a:lnTo>
                    <a:pt x="14459" y="10453"/>
                  </a:lnTo>
                  <a:lnTo>
                    <a:pt x="14581" y="10111"/>
                  </a:lnTo>
                  <a:lnTo>
                    <a:pt x="14703" y="9769"/>
                  </a:lnTo>
                  <a:lnTo>
                    <a:pt x="14801" y="9403"/>
                  </a:lnTo>
                  <a:lnTo>
                    <a:pt x="14899" y="9037"/>
                  </a:lnTo>
                  <a:lnTo>
                    <a:pt x="14947" y="8670"/>
                  </a:lnTo>
                  <a:lnTo>
                    <a:pt x="14996" y="8280"/>
                  </a:lnTo>
                  <a:lnTo>
                    <a:pt x="15045" y="7913"/>
                  </a:lnTo>
                  <a:lnTo>
                    <a:pt x="15045" y="7522"/>
                  </a:lnTo>
                  <a:lnTo>
                    <a:pt x="7523" y="7522"/>
                  </a:lnTo>
                  <a:lnTo>
                    <a:pt x="752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4"/>
            <p:cNvSpPr/>
            <p:nvPr/>
          </p:nvSpPr>
          <p:spPr>
            <a:xfrm>
              <a:off x="3494925" y="3760525"/>
              <a:ext cx="188075" cy="97100"/>
            </a:xfrm>
            <a:custGeom>
              <a:avLst/>
              <a:gdLst/>
              <a:ahLst/>
              <a:cxnLst/>
              <a:rect l="l" t="t" r="r" b="b"/>
              <a:pathLst>
                <a:path w="7523" h="3884" extrusionOk="0">
                  <a:moveTo>
                    <a:pt x="2491" y="2956"/>
                  </a:moveTo>
                  <a:lnTo>
                    <a:pt x="2491" y="3396"/>
                  </a:lnTo>
                  <a:lnTo>
                    <a:pt x="1759" y="3396"/>
                  </a:lnTo>
                  <a:lnTo>
                    <a:pt x="2491" y="2956"/>
                  </a:lnTo>
                  <a:close/>
                  <a:moveTo>
                    <a:pt x="3346" y="2443"/>
                  </a:moveTo>
                  <a:lnTo>
                    <a:pt x="3346" y="3396"/>
                  </a:lnTo>
                  <a:lnTo>
                    <a:pt x="2980" y="3396"/>
                  </a:lnTo>
                  <a:lnTo>
                    <a:pt x="2980" y="2663"/>
                  </a:lnTo>
                  <a:lnTo>
                    <a:pt x="3346" y="2443"/>
                  </a:lnTo>
                  <a:close/>
                  <a:moveTo>
                    <a:pt x="4201" y="1930"/>
                  </a:moveTo>
                  <a:lnTo>
                    <a:pt x="4201" y="3396"/>
                  </a:lnTo>
                  <a:lnTo>
                    <a:pt x="3835" y="3396"/>
                  </a:lnTo>
                  <a:lnTo>
                    <a:pt x="3835" y="2150"/>
                  </a:lnTo>
                  <a:lnTo>
                    <a:pt x="3835" y="2150"/>
                  </a:lnTo>
                  <a:lnTo>
                    <a:pt x="4201" y="1930"/>
                  </a:lnTo>
                  <a:close/>
                  <a:moveTo>
                    <a:pt x="5056" y="1393"/>
                  </a:moveTo>
                  <a:lnTo>
                    <a:pt x="5056" y="3396"/>
                  </a:lnTo>
                  <a:lnTo>
                    <a:pt x="4689" y="3396"/>
                  </a:lnTo>
                  <a:lnTo>
                    <a:pt x="4689" y="1637"/>
                  </a:lnTo>
                  <a:lnTo>
                    <a:pt x="5056" y="1393"/>
                  </a:lnTo>
                  <a:close/>
                  <a:moveTo>
                    <a:pt x="5911" y="885"/>
                  </a:moveTo>
                  <a:lnTo>
                    <a:pt x="5911" y="3396"/>
                  </a:lnTo>
                  <a:lnTo>
                    <a:pt x="5544" y="3396"/>
                  </a:lnTo>
                  <a:lnTo>
                    <a:pt x="5544" y="1100"/>
                  </a:lnTo>
                  <a:lnTo>
                    <a:pt x="5911" y="885"/>
                  </a:lnTo>
                  <a:close/>
                  <a:moveTo>
                    <a:pt x="6399" y="978"/>
                  </a:moveTo>
                  <a:lnTo>
                    <a:pt x="6619" y="1539"/>
                  </a:lnTo>
                  <a:lnTo>
                    <a:pt x="6790" y="2031"/>
                  </a:lnTo>
                  <a:lnTo>
                    <a:pt x="6790" y="3396"/>
                  </a:lnTo>
                  <a:lnTo>
                    <a:pt x="6399" y="3396"/>
                  </a:lnTo>
                  <a:lnTo>
                    <a:pt x="6399" y="978"/>
                  </a:lnTo>
                  <a:close/>
                  <a:moveTo>
                    <a:pt x="6448" y="1"/>
                  </a:moveTo>
                  <a:lnTo>
                    <a:pt x="0" y="3884"/>
                  </a:lnTo>
                  <a:lnTo>
                    <a:pt x="7523" y="3884"/>
                  </a:lnTo>
                  <a:lnTo>
                    <a:pt x="7498" y="3347"/>
                  </a:lnTo>
                  <a:lnTo>
                    <a:pt x="7449" y="2834"/>
                  </a:lnTo>
                  <a:lnTo>
                    <a:pt x="7352" y="2321"/>
                  </a:lnTo>
                  <a:lnTo>
                    <a:pt x="7229" y="1832"/>
                  </a:lnTo>
                  <a:lnTo>
                    <a:pt x="7083" y="1344"/>
                  </a:lnTo>
                  <a:lnTo>
                    <a:pt x="6912" y="880"/>
                  </a:lnTo>
                  <a:lnTo>
                    <a:pt x="6692" y="440"/>
                  </a:lnTo>
                  <a:lnTo>
                    <a:pt x="644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4"/>
            <p:cNvSpPr/>
            <p:nvPr/>
          </p:nvSpPr>
          <p:spPr>
            <a:xfrm>
              <a:off x="3494925" y="3652450"/>
              <a:ext cx="161200" cy="188100"/>
            </a:xfrm>
            <a:custGeom>
              <a:avLst/>
              <a:gdLst/>
              <a:ahLst/>
              <a:cxnLst/>
              <a:rect l="l" t="t" r="r" b="b"/>
              <a:pathLst>
                <a:path w="6448" h="7524" extrusionOk="0">
                  <a:moveTo>
                    <a:pt x="489" y="514"/>
                  </a:moveTo>
                  <a:lnTo>
                    <a:pt x="879" y="538"/>
                  </a:lnTo>
                  <a:lnTo>
                    <a:pt x="1270" y="611"/>
                  </a:lnTo>
                  <a:lnTo>
                    <a:pt x="1661" y="685"/>
                  </a:lnTo>
                  <a:lnTo>
                    <a:pt x="2052" y="782"/>
                  </a:lnTo>
                  <a:lnTo>
                    <a:pt x="2418" y="929"/>
                  </a:lnTo>
                  <a:lnTo>
                    <a:pt x="2809" y="1075"/>
                  </a:lnTo>
                  <a:lnTo>
                    <a:pt x="3151" y="1246"/>
                  </a:lnTo>
                  <a:lnTo>
                    <a:pt x="3517" y="1417"/>
                  </a:lnTo>
                  <a:lnTo>
                    <a:pt x="3835" y="1637"/>
                  </a:lnTo>
                  <a:lnTo>
                    <a:pt x="4152" y="1857"/>
                  </a:lnTo>
                  <a:lnTo>
                    <a:pt x="4445" y="2077"/>
                  </a:lnTo>
                  <a:lnTo>
                    <a:pt x="4738" y="2321"/>
                  </a:lnTo>
                  <a:lnTo>
                    <a:pt x="5031" y="2590"/>
                  </a:lnTo>
                  <a:lnTo>
                    <a:pt x="5276" y="2883"/>
                  </a:lnTo>
                  <a:lnTo>
                    <a:pt x="5520" y="3176"/>
                  </a:lnTo>
                  <a:lnTo>
                    <a:pt x="5764" y="3493"/>
                  </a:lnTo>
                  <a:lnTo>
                    <a:pt x="489" y="6668"/>
                  </a:lnTo>
                  <a:lnTo>
                    <a:pt x="489" y="514"/>
                  </a:lnTo>
                  <a:close/>
                  <a:moveTo>
                    <a:pt x="0" y="1"/>
                  </a:moveTo>
                  <a:lnTo>
                    <a:pt x="0" y="7523"/>
                  </a:lnTo>
                  <a:lnTo>
                    <a:pt x="6448" y="3640"/>
                  </a:lnTo>
                  <a:lnTo>
                    <a:pt x="6179" y="3249"/>
                  </a:lnTo>
                  <a:lnTo>
                    <a:pt x="5911" y="2858"/>
                  </a:lnTo>
                  <a:lnTo>
                    <a:pt x="5593" y="2492"/>
                  </a:lnTo>
                  <a:lnTo>
                    <a:pt x="5276" y="2150"/>
                  </a:lnTo>
                  <a:lnTo>
                    <a:pt x="4909" y="1833"/>
                  </a:lnTo>
                  <a:lnTo>
                    <a:pt x="4543" y="1540"/>
                  </a:lnTo>
                  <a:lnTo>
                    <a:pt x="4152" y="1246"/>
                  </a:lnTo>
                  <a:lnTo>
                    <a:pt x="3761" y="1002"/>
                  </a:lnTo>
                  <a:lnTo>
                    <a:pt x="3322" y="782"/>
                  </a:lnTo>
                  <a:lnTo>
                    <a:pt x="2882" y="587"/>
                  </a:lnTo>
                  <a:lnTo>
                    <a:pt x="2443" y="416"/>
                  </a:lnTo>
                  <a:lnTo>
                    <a:pt x="1978" y="270"/>
                  </a:lnTo>
                  <a:lnTo>
                    <a:pt x="1490" y="147"/>
                  </a:lnTo>
                  <a:lnTo>
                    <a:pt x="1002" y="74"/>
                  </a:lnTo>
                  <a:lnTo>
                    <a:pt x="513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2" name="Google Shape;192;p24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8" name="Picture 7" descr="Table&#10;&#10;Description automatically generated">
            <a:extLst>
              <a:ext uri="{FF2B5EF4-FFF2-40B4-BE49-F238E27FC236}">
                <a16:creationId xmlns:a16="http://schemas.microsoft.com/office/drawing/2014/main" id="{486A2E66-E47D-94B1-057F-B15947230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821" y="1583456"/>
            <a:ext cx="5943600" cy="221615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1CEF1316-E8E6-E9FD-946B-81C86BB5CC54}"/>
              </a:ext>
            </a:extLst>
          </p:cNvPr>
          <p:cNvSpPr/>
          <p:nvPr/>
        </p:nvSpPr>
        <p:spPr>
          <a:xfrm>
            <a:off x="3533456" y="3437659"/>
            <a:ext cx="688456" cy="30133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3D84BC9-A5DA-E3D0-8CCA-38E0924F5813}"/>
              </a:ext>
            </a:extLst>
          </p:cNvPr>
          <p:cNvSpPr/>
          <p:nvPr/>
        </p:nvSpPr>
        <p:spPr>
          <a:xfrm>
            <a:off x="4572000" y="2098962"/>
            <a:ext cx="688456" cy="30133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AD6CB5A-76B0-15FD-6D12-9C6B1313F3BA}"/>
              </a:ext>
            </a:extLst>
          </p:cNvPr>
          <p:cNvSpPr/>
          <p:nvPr/>
        </p:nvSpPr>
        <p:spPr>
          <a:xfrm>
            <a:off x="5465618" y="2763980"/>
            <a:ext cx="688456" cy="30133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7878A2A-2928-67D6-9B0C-95A2CA888EB6}"/>
              </a:ext>
            </a:extLst>
          </p:cNvPr>
          <p:cNvSpPr/>
          <p:nvPr/>
        </p:nvSpPr>
        <p:spPr>
          <a:xfrm>
            <a:off x="6414383" y="3427265"/>
            <a:ext cx="688456" cy="30133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023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animBg="1"/>
      <p:bldP spid="16" grpId="0" animBg="1"/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040CA-8A4E-413B-BE88-D68BF218B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9F4DF8-B531-4005-8953-07B43EAC9F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pic>
        <p:nvPicPr>
          <p:cNvPr id="1026" name="Picture 2" descr="Hình nền, Slide Thank You, Cảm ơn cho bài thuyết trình PowerPoint">
            <a:extLst>
              <a:ext uri="{FF2B5EF4-FFF2-40B4-BE49-F238E27FC236}">
                <a16:creationId xmlns:a16="http://schemas.microsoft.com/office/drawing/2014/main" id="{20CF5DCF-3EC1-4483-8287-58DF3F2F5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79" y="-180109"/>
            <a:ext cx="8807116" cy="5323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2788265"/>
      </p:ext>
    </p:extLst>
  </p:cSld>
  <p:clrMapOvr>
    <a:masterClrMapping/>
  </p:clrMapOvr>
</p:sld>
</file>

<file path=ppt/theme/theme1.xml><?xml version="1.0" encoding="utf-8"?>
<a:theme xmlns:a="http://schemas.openxmlformats.org/drawingml/2006/main" name="Jacquenetta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F3F3F3"/>
      </a:lt2>
      <a:accent1>
        <a:srgbClr val="000000"/>
      </a:accent1>
      <a:accent2>
        <a:srgbClr val="666666"/>
      </a:accent2>
      <a:accent3>
        <a:srgbClr val="999999"/>
      </a:accent3>
      <a:accent4>
        <a:srgbClr val="CCCCCC"/>
      </a:accent4>
      <a:accent5>
        <a:srgbClr val="EFEFEF"/>
      </a:accent5>
      <a:accent6>
        <a:srgbClr val="F6B26B"/>
      </a:accent6>
      <a:hlink>
        <a:srgbClr val="0000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934</TotalTime>
  <Words>306</Words>
  <Application>Microsoft Office PowerPoint</Application>
  <PresentationFormat>On-screen Show (16:9)</PresentationFormat>
  <Paragraphs>80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Work Sans</vt:lpstr>
      <vt:lpstr>Arial</vt:lpstr>
      <vt:lpstr>Calibri</vt:lpstr>
      <vt:lpstr>Times New Roman</vt:lpstr>
      <vt:lpstr>Work Sans Light</vt:lpstr>
      <vt:lpstr>Jacquenetta template</vt:lpstr>
      <vt:lpstr>SENTIMENT ANALYSIS FOR E-COMMERCE BASED ON SENTIMENT LEXICON AND DEEP LEARNING</vt:lpstr>
      <vt:lpstr>1. Giới thiệu</vt:lpstr>
      <vt:lpstr>1. GIỚI THIỆU</vt:lpstr>
      <vt:lpstr>1. GIỚI THIỆU</vt:lpstr>
      <vt:lpstr>1. GIỚI THIỆU</vt:lpstr>
      <vt:lpstr>2. Related work</vt:lpstr>
      <vt:lpstr>2. Related work</vt:lpstr>
      <vt:lpstr>3. Phương pháp</vt:lpstr>
      <vt:lpstr>4. THỰC NGHIỆM</vt:lpstr>
      <vt:lpstr>4. THỰC NGHIỆM</vt:lpstr>
      <vt:lpstr>4. THỰC NGHIỆM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CONVOLUTIONAL MATRIX COMPLETION</dc:title>
  <cp:lastModifiedBy>Dũng Nguyễn</cp:lastModifiedBy>
  <cp:revision>17</cp:revision>
  <dcterms:modified xsi:type="dcterms:W3CDTF">2022-05-07T08:26:51Z</dcterms:modified>
</cp:coreProperties>
</file>